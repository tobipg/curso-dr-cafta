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1: capítulos 1 y 2. Casi todos los saltan, pero el Cap. 2 es el diccionario que rige la lectura de todo el tratado.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reflejo profesional: antes de aplicar cualquier regla, confirmar cómo el tratado define los términos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Cap. 2 no se memoriza: se aprende a consultar bien, y se dominan los términos de alto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relación con la OMC es el punto clave: cuando el tratado calla, muchas veces se recurre a las reglas OMC.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recomendar la formación gratuita de la OMC (learning.wto.org).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precedencia es lo que evita errores: siempre revisar primero si el capítulo tiene su propia definición.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Territorio está resaltado porque es el ejemplo del Módulo 0: una definición que vive en un anexo.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Refuerza la continuidad con el Módulo 0 y el hábito de buscar definiciones en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después de estos 4 pasos la lectura del artículo es confiable.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estos errores nacen de subestimar el Cap.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ficha se usa como referencia durante los módulos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Módulo 2: aranceles, canastas de desgravación y el Anexo 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MODULAR · COMERCIO EXTERIOR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Disposiciones Iniciales y Definiciones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las primeras páginas mandan sobre todo el tratado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1E3D5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2628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diccionario oficial vence al lenguaje común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Dominicana · DR-CAFTA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MÓDULO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aplicar, define los términos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el estudiante entenderá qué establece el tratado en su arranque y dominará el sistema de definiciones, sabiendo por qué un término mal interpretado invalida todo el análisis posterior.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el arranque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tratado establece la zona de libre comercio y su relación con la OMC.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626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886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886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058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Dominar las definiciones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4058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las generales (Cap. 2) de las específicas de capítulo, y su precedencia.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2514600"/>
            <a:ext cx="3456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825496"/>
            <a:ext cx="566928" cy="566928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58200" y="35661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definiciones en anexos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58200" y="434340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términos como “Territorio”, cuya definición vive en el Anexo 2.1.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MÓDULO EXISTE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saltes el diccionario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46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el mundo salta los Capítulos 1 y 2 pensando que son “trámite”. Error caro. El Capítulo 2 es el diccionario oficial del tratado, y ese diccionario vence al lenguaje común.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446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lees “mercancía originaria” y le das el significado que tú crees —y no el que el tratado define— tu conclusión estará mal, aunque el resto del razonamiento sea perfecto.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818120" y="256032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definición mal leída invalida todo el análisis posterior.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· DISPOSICIONES INICIALES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cosas que el tratado hace al arrancar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880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la zona de libre comercio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3886200"/>
            <a:ext cx="287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establece conforme al Art. XXIV del GATT y al Art. V del AGCS — los artículos de la OMC que autorizan estos acuerdos.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626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626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E0A83B"/>
          </a:solidFill>
          <a:ln/>
        </p:spPr>
      </p:sp>
      <p:sp>
        <p:nvSpPr>
          <p:cNvPr id="10" name="Text 8"/>
          <p:cNvSpPr/>
          <p:nvPr/>
        </p:nvSpPr>
        <p:spPr>
          <a:xfrm>
            <a:off x="4658868" y="2880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Fija la relación con la OMC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58868" y="3886200"/>
            <a:ext cx="287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los derechos y obligaciones existentes bajo la OMC. El tratado no borra lo anterior: convive con ello.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46888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83880" y="2468880"/>
            <a:ext cx="3456432" cy="128016"/>
          </a:xfrm>
          <a:prstGeom prst="roundRect">
            <a:avLst>
              <a:gd name="adj" fmla="val 14286"/>
            </a:avLst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476488" y="288036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el ámbito y las Partes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76488" y="3886200"/>
            <a:ext cx="2871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 UU., Costa Rica, El Salvador, Guatemala, Honduras, Nicaragua y República Dominicana.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 DEL CAPÍTULO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tratado es un piso ADICIONAL sobre la OMC,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 universo aislado.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79676" y="39776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E3D57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5436" y="39776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conocer la OMC potencia tu lectura del tratado. El Acuerdo MSF, el Acuerdo OTC y el GATT reaparecen una y otra vez en los capítulos siguientes.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· EL SISTEMA DE DEFINICIONES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niveles, una regla de precedencia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7452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Generales (Capítulo 2).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 en TODO el tratado, salvo que un capítulo defina algo distinto para su propio uso.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42900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13293D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capítulo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específicas de capítulo.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Mandan DENTRO de ese capítulo. Ej.: “mercancía originaria” se usa en todo el tratado, pero su definición operativa completa está en el Capítulo 4.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BF1DC"/>
          </a:solidFill>
          <a:ln w="16510">
            <a:solidFill>
              <a:srgbClr val="E0A8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00600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precedencia: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capítulo define un término para sus fines, esa definición gana dentro de ese capítulo. Si no lo define, aplica la del Capítulo 2.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DE ALTO IMPACTO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que un aduanal usa a diario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BF1DC"/>
          </a:solidFill>
          <a:ln w="17780">
            <a:solidFill>
              <a:srgbClr val="E0A83B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93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Territorio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país-específica que vive en el Anexo 2.1. Clave para zonas francas y mar territorial.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6260" y="1691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0580" y="19293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Mercancía originaria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640580" y="26243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más importante para la preferencia. Su definición completa está en el Cap. 4.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1691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9293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Arancel aduanero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58200" y="26243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cuenta como arancel — y qué NO (ciertas tasas y antidumping quedan fuera).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153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Armonizado (HS)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49103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Partida = 4 dígitos; subpartida = 6. Origen y desgravación cuelgan de aquí.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66260" y="3977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0580" y="42153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40580" y="49103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Ley, reglamento, procedimiento o práctica. Amplísima: casi cualquier acto estatal.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977640"/>
            <a:ext cx="345643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42153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58200" y="4910328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indicación, días calendario. Decide plazos de verificación y controversias.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“Territorio”: la lección del Módulo 0, aplicada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definición de “Territorio” es país-específica y NO está en el cuerpo del Capítulo 2: vive en el Anexo 2.1. Es el ejemplo perfecto de lo que aprendiste en el Módulo 0 — una definición que modifica el alcance y que está en un anexo.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para determinar dónde aplica el tratado: zonas francas, mar territorial y otros espacios. Si lees el término con el mapa mental común, te equivocas.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783080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92938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Capítulo 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2331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 el término “Territorio”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92540" y="28163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3218688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336499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Anexo 2.1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376732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la definición real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92540" y="4251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4654296"/>
            <a:ext cx="4892040" cy="1051560"/>
          </a:xfrm>
          <a:prstGeom prst="roundRect">
            <a:avLst>
              <a:gd name="adj" fmla="val 7826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48006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RD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40880" y="520293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para República Dominicana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pasos para usar las definiciones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leas cualquier artículo del tratado: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7178" cy="29260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86000"/>
            <a:ext cx="548640" cy="54864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Subraya los términos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3794760"/>
            <a:ext cx="20551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los términos técnicos del artículo que estás leyendo.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0138" y="2011680"/>
            <a:ext cx="2567178" cy="29260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6170" y="2286000"/>
            <a:ext cx="548640" cy="54864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2" name="Text 10"/>
          <p:cNvSpPr/>
          <p:nvPr/>
        </p:nvSpPr>
        <p:spPr>
          <a:xfrm>
            <a:off x="364617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6170" y="301752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en el capítulo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46170" y="3794760"/>
            <a:ext cx="20551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primero las definiciones del propio capítulo. Si están, esa manda.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31636" y="2011680"/>
            <a:ext cx="2567178" cy="29260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87668" y="2286000"/>
            <a:ext cx="548640" cy="54864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8766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87668" y="301752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al Capítulo 2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87668" y="3794760"/>
            <a:ext cx="20551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capítulo no lo define, aplica la definición general.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73134" y="2011680"/>
            <a:ext cx="2567178" cy="292608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9166" y="2286000"/>
            <a:ext cx="548640" cy="54864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22" name="Text 20"/>
          <p:cNvSpPr/>
          <p:nvPr/>
        </p:nvSpPr>
        <p:spPr>
          <a:xfrm>
            <a:off x="932916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9166" y="301752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el anexo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29166" y="3794760"/>
            <a:ext cx="20551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definición remite a un anexo? (Territorio → Anexo 2.1). Léelo.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COMUNES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que arrastran todo lo demás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el Cap. 2 e interpretar términos con el diccionario común.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7376" y="215798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8312" y="180136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la definición está en el capítulo, cuando vive en un anexo (Territorio).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“arancel aduanero” con todo cargo en frontera.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24612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371246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8312" y="335584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plazos en días hábiles cuando el tratado dice días calendario.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7E9E4"/>
          </a:solidFill>
          <a:ln w="12700">
            <a:solidFill>
              <a:srgbClr val="E4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5266944"/>
            <a:ext cx="438912" cy="438912"/>
          </a:xfrm>
          <a:prstGeom prst="ellipse">
            <a:avLst/>
          </a:prstGeom>
          <a:solidFill>
            <a:srgbClr val="C0492F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5266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4343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que un capítulo puede redefinir un término para sus propios fines.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48006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1329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006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0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Recuerda:  </a:t>
            </a:r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definición del tratado vence al diccionario común.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8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 y entregable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5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guiada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048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completo (es corto).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82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 completo — como quien hojea un diccionario.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593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2.1 (Territorio) — la definición para 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7365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los términos de alto impacto en el texto.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01600" dist="38100" dir="5400000">
              <a:srgbClr val="6E829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10 definiciones críticas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65392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tabla con los 10 términos de alto impacto, cada uno con: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3849624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371246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definición según el tratado, en palabras propias.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1112" y="4416552"/>
            <a:ext cx="137160" cy="13716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42793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de por qué importa en la práctica aduanera.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65392" y="5138928"/>
            <a:ext cx="4892040" cy="502920"/>
          </a:xfrm>
          <a:prstGeom prst="roundRect">
            <a:avLst>
              <a:gd name="adj" fmla="val 14545"/>
            </a:avLst>
          </a:prstGeom>
          <a:solidFill>
            <a:srgbClr val="1E3D57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51389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referencia rápida para todo el resto del curso.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DR-CAFTA · Curso Modular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54312" y="6455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325880"/>
            <a:ext cx="4206240" cy="4206240"/>
          </a:xfrm>
          <a:prstGeom prst="ellipse">
            <a:avLst/>
          </a:prstGeom>
          <a:solidFill>
            <a:srgbClr val="2A7F8E">
              <a:alpha val="10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74520"/>
            <a:ext cx="3108960" cy="3108960"/>
          </a:xfrm>
          <a:prstGeom prst="ellipse">
            <a:avLst/>
          </a:prstGeom>
          <a:solidFill>
            <a:srgbClr val="2A7F8E">
              <a:alpha val="16000"/>
            </a:srgbClr>
          </a:solidFill>
          <a:ln w="12700">
            <a:solidFill>
              <a:srgbClr val="E0A83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77440"/>
            <a:ext cx="2103120" cy="2103120"/>
          </a:xfrm>
          <a:prstGeom prst="ellipse">
            <a:avLst/>
          </a:prstGeom>
          <a:solidFill>
            <a:srgbClr val="2A7F8E">
              <a:alpha val="26000"/>
            </a:srgbClr>
          </a:solidFill>
          <a:ln w="12700">
            <a:solidFill>
              <a:srgbClr val="6FB4C0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880360"/>
            <a:ext cx="1097280" cy="1097280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234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MÓDULO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7276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diccionario, dominado.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617720" y="2578608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4414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Cap. 1 ancla el tratado en la OMC — es un piso adicional.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7720" y="3145536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0837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Cap. 2 es el diccionario oficial; sus definiciones mandan.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617720" y="3712464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753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niveles: generales y de capítulo, con una regla de precedencia.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617720" y="4279392"/>
            <a:ext cx="146304" cy="146304"/>
          </a:xfrm>
          <a:prstGeom prst="ellipse">
            <a:avLst/>
          </a:prstGeom>
          <a:solidFill>
            <a:srgbClr val="E0A8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41422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definiciones (Territorio) viven en anexos.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0" y="5074920"/>
            <a:ext cx="7040880" cy="777240"/>
          </a:xfrm>
          <a:prstGeom prst="roundRect">
            <a:avLst>
              <a:gd name="adj" fmla="val 10588"/>
            </a:avLst>
          </a:prstGeom>
          <a:solidFill>
            <a:srgbClr val="E0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50749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 </a:t>
            </a:r>
            <a:pPr algn="l"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2 · Acceso a mercados y desgravación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DR-CAFTA</dc:creator>
  <cp:lastModifiedBy>Curso DR-CAFTA</cp:lastModifiedBy>
  <cp:revision>1</cp:revision>
  <dcterms:created xsi:type="dcterms:W3CDTF">2026-08-13T15:19:15Z</dcterms:created>
  <dcterms:modified xsi:type="dcterms:W3CDTF">2026-08-13T15:19:15Z</dcterms:modified>
</cp:coreProperties>
</file>