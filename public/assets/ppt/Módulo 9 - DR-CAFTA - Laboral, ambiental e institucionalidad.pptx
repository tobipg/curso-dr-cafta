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la parte institucional, las reglas de los capítulos anteriores no tendrían cómo aplicarse ni defenderse.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profesional que solo conoce mercancías y origen, pero no cómo se resuelve una controversia, tiene el mapa incompleto.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siguen el mismo patrón: no imponen leyes uniformes; disciplinan el no aplicar las propias.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Cap. 19 crea los comités que aparecieron en módulos anteriores (Comité MSF, Comité OTC,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Distinto del ISDS (inversionista-Estado) del Cap. 10. Este es Estado-Estado.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confundir el mecanismo Estado-Estado (Cap. 20) con el ISDS inversionista-Estado (Cap.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contribución monetaria en laboral/ambiental es un rasgo distintivo.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este esquema el estudiante tiene la gobernanza del tratado en una sola 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10: cómo se ejecuta todo esto en RD (DGA, SIGA, VUCE, MICM) — el proyecto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Laboral, ambiental e institucionalidad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Capítulos 16 a 22  ·  el “sistema operativo” del tratado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terminas de leer el texto completo del DR-CAFTA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gobierna y se hace cumplir el tratado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entenderá los compromisos laborales y ambientales, y —sobre todo— cómo se administra, se interpreta y se hace cumplir el tratado. Con este módulo termina de leer todo el texto del DR-CAFTA.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Laboral y ambiental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patrón: aplica tu ley, no la debilites para competir.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gobierna el tratado y sus comités.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Controversias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resuelven los conflictos entre Estados.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16 Y 17 · LABORAL Y AMBIENTAL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patrón: cumple tu ley, no la bajes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16 · Laboral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6888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efectivamente la propia legislación laboral.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172968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54096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los derechos laborales fundamentales.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877056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58184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debilitar la ley para atraer comercio o inversión.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581144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46227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llegar al mecanismo de controversias.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1691640"/>
            <a:ext cx="544068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69164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2E6B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17 · Ambiental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9672" y="246888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2350008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efectivamente la propia legislación ambiental.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9672" y="3172968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3054096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Altos niveles de protección y mejora continua.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19672" y="3877056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3758184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debilitar la protección para atraer comercio.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19672" y="4581144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93992" y="446227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público puede presentar peticiones.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18, 19, 21 Y 22 · INSTITUCIONALIDAD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andamiaje del tratado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933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18 · Transparencia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notificación de medidas; debido proceso; anticorrupción.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7373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73736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9933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19 · Administración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5603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Comisión de Libre Comercio y los comités técnicos que gobiernan el tratado.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21608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77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21 · Excepciones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54456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un país puede apartarse: salud, seguridad, balanza de pagos.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72160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3721608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3977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Cap. 22 · Disposiciones finales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454456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en vigor, enmiendas, denuncia. La OEA es la depositaria.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20 · EL MECANISMO CLAVE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de controversias (Estado-Estado)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1965960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da fuerza a todo el tratado. Sin él, las obligaciones serían promesas sin consecuencia.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42416" y="27432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E3D57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9576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3035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28416" y="27432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48456" y="27432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E3D57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48456" y="3035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Comisión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34456" y="27432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54496" y="27432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E3D57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54496" y="3035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arbitral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0496" y="27432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860536" y="27432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E3D57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0536" y="3035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751076" y="4114800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3A2E18"/>
          </a:solidFill>
          <a:ln w="12700">
            <a:solidFill>
              <a:srgbClr val="E0A8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16836" y="411480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cumple: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3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negocia compensación, y si tampoco, se suspenden beneficios (subir aranceles). En temas laborales o ambientales puede aplicar una contribución monetaria.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Ubicar un caso de este bloque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37944"/>
            <a:ext cx="365760" cy="3657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76479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¿Derechos de trabajadores ligados al comercio?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17647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16.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87752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25146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¿Medio ambiente ligado al comercio?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06640" y="25146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17.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326440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¿Falta de publicación o debido proceso?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326440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18.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87368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98448" y="401421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órgano decide o administra?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401421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19 (Comisión de Libre Comercio).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837176"/>
            <a:ext cx="365760" cy="3657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98448" y="476402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¿Conflicto entre dos Estados Parte?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476402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20 (consultas → panel → cumplimiento).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5586984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98448" y="55138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¿Medida restrictiva quizá justificada?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551383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21 (excepciones).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de este bloque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que laboral y ambiental son “decorativos” (pueden llegar a controversias).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el mecanismo Estado-Estado (Cap. 20) con el ISDS (Cap. 10).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el Cap. 21 → concluir que una medida viola el tratado sin ver las excepciones.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ubicar la fecha de entrada en vigor de RD → calcular mal la desgravación.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saber qué es la Comisión de Libre Comercio.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Cap. 20 es lo que le da dientes al tratado.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16-17: el patrón “aplica tu ley, no la debilites”.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18-19: transparencia, la Comisión y los comités.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20 con cuidado: es el mecanismo que da fuerza a todo.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21-22: excepciones y entrada en vigor de 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del sistema institucional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65392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diagrama de una página que muestre: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7124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5844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Comisión de Libre Comercio y sus comités.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1112" y="41696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041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controversias: consultas → panel → cumplimiento.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1112" y="46268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4988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 entrada en vigor de RD.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11112" y="50840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9560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excepciones existen.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65392" y="5532120"/>
            <a:ext cx="4892040" cy="274320"/>
          </a:xfrm>
          <a:prstGeom prst="roundRect">
            <a:avLst>
              <a:gd name="adj" fmla="val 20000"/>
            </a:avLst>
          </a:prstGeom>
          <a:solidFill>
            <a:srgbClr val="1E3D5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5486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“sistema operativo” del tratado en una vista.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1430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48132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completo, recorrido.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4617720" y="235000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212848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 y ambiental: cumple tu ley, no la debilites.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289864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761488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Comisión de Libre Comercio gobierna el tratado.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344728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310128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Cap. 20 (Estado-Estado) le da dientes al acuerdo.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399592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858768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excepciones permiten apartarse legítimamente.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61772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61772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9 terminas de leer los 22 capítulos del DR-CAFTA.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349240"/>
            <a:ext cx="7040880" cy="731520"/>
          </a:xfrm>
          <a:prstGeom prst="roundRect">
            <a:avLst>
              <a:gd name="adj" fmla="val 11250"/>
            </a:avLst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5349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10 · Aplicación en la República Dominicana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2026-08-14T03:26:14Z</dcterms:created>
  <dcterms:modified xsi:type="dcterms:W3CDTF">2026-08-14T03:26:14Z</dcterms:modified>
</cp:coreProperties>
</file>