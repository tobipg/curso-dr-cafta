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Oportunidades y obligaciones que un profesional de comex encuentra tarde o temprano. La PI no es tema lejano: la aduana la aplica.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aduanero es un actor de la observancia de PI en frontera.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saber si una compra está cubierta: revisar umbral de valor + si la entidad y el bien están en la lista de 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Confundir producto digital con producto físico de e-commerce es un error frecuente.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DR-CAFTA es conocido como capítulo OMC-plus. Impactó la legislación de patentes, marcas y derecho de autor de 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aduanero puede (o debe) detener un contenedor de mercancía falsificada o pirata.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PI en frontera: distinguir falsificación (marca) de piratería (derecho de autor).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de creer que la PI no toca a la aduana es el más relevante para el perfil del estudiante.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mini-caso de frontera aterriza la PI en la práctica aduanal.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Módulo 9: laboral, ambiental y el sistema institucional del tratado.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MODULAR · COMERCIO EXTERIOR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 públicas, e-commerce y PI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Capítulos 9, 14 y 15  ·  nivel funcional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630936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3484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 también se aplica en la frontera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Dominicana · DR-CAFTA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MÓDULO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capítulos con gancho a tu realidad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el estudiante entenderá cómo el tratado abre las compras del Estado, cómo protege el comercio digital, y qué estándares de propiedad intelectual impone — incluyendo por qué la PI toca el trabajo aduanal en frontera.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7121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Contratación pública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abren las compras del Estado a proveedores del bloque.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6260" y="25603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8868" y="287121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886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0580" y="36118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Comercio electrónico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40580" y="438912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aranceles a productos digitales; qué es digital y qué no.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5603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87121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6118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 intelectual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438912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OMC-plus y la observancia en frontera.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8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 · CONTRATACIÓN PÚBLICA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compras del Estado se abren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las compras de bienes y servicios de las entidades gubernamentales, para abrirlas a proveedores de las otras Partes en condiciones justas.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715768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Trato nacional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1248" y="338328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entidad pública no puede favorecer al proveedor local frente al de otra Parte.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6260" y="233172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6260" y="233172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4658868" y="2715768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Transparencia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58868" y="338328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licitaciones se publican, con reglas y plazos claros, y con derecho a impugnar.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233172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BF1DC"/>
          </a:solidFill>
          <a:ln w="16510">
            <a:solidFill>
              <a:srgbClr val="E0A8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233172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5" name="Text 13"/>
          <p:cNvSpPr/>
          <p:nvPr/>
        </p:nvSpPr>
        <p:spPr>
          <a:xfrm>
            <a:off x="8476488" y="2715768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Umbrales (thresholds)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476488" y="338328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aplica a contratos por encima de cierto valor y a las entidades listadas en el anexo del país.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8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14 · COMERCIO ELECTRÓNICO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 a tu mundo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el comercio de productos y servicios por medios digitales. Compromisos centrales: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Compromisos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14400" y="2779776"/>
            <a:ext cx="118872" cy="118872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670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aranceles a productos digitales transmitidos electrónicamente.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163824"/>
            <a:ext cx="118872" cy="118872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0540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discriminación por origen del producto digital.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118872" cy="118872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4381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las transacciones electrónicas.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21488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Distinción clave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19672" y="274320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digital (descargado) → lo cubre este capítulo.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físico comprado en línea (llega por courier) → sigue las reglas de mercancías (arancel, origen, minimis).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BF1DC"/>
          </a:solidFill>
          <a:ln w="15240">
            <a:solidFill>
              <a:srgbClr val="E0A8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06240"/>
            <a:ext cx="10360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te importa: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auge del e-commerce físico es el motor del negocio courier. Este capítulo (más el umbral de minimis del Módulo 5) es el marco del comercio digital que alimenta tu operación.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8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15 · PROPIEDAD INTELECTUAL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Estándares OMC-plus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protección de marcas, patentes, derechos de autor e indicaciones geográficas. El DR-CAFTA impone protecciones más altas que los mínimos de la OMC (“OMC-plus”).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5643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3288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incluyendo marcas notorias.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6260" y="2331720"/>
            <a:ext cx="345643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0580" y="253288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Derechos de autor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40580" y="30175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obras, software y música, también en el entorno digital.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3880" y="2331720"/>
            <a:ext cx="345643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253288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30175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incluida materia farmacéutica y datos de prueba.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59352"/>
            <a:ext cx="345643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16052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Indicaciones geográficas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464515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origen geográfico.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66260" y="3959352"/>
            <a:ext cx="3456432" cy="1463040"/>
          </a:xfrm>
          <a:prstGeom prst="roundRect">
            <a:avLst>
              <a:gd name="adj" fmla="val 5000"/>
            </a:avLst>
          </a:prstGeom>
          <a:solidFill>
            <a:srgbClr val="FBF1DC"/>
          </a:solidFill>
          <a:ln w="16510">
            <a:solidFill>
              <a:srgbClr val="E0A8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0580" y="416052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Observancia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40580" y="464515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civiles, penales y en frontera.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83880" y="3959352"/>
            <a:ext cx="345643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58200" y="416052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OMC-plus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58200" y="464515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más altos que los mínimos globales.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GANCHO A TU PROFESIÓN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aduana aplica la PI en la frontera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194560" y="219456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capítulo faculta a la aduana para retener e incautar mercancía falsificada o pirata.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92608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1E3D57"/>
          </a:solidFill>
          <a:ln w="16510">
            <a:solidFill>
              <a:srgbClr val="C049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3200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C6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Falsificación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48840" y="37033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Mercancía que infringe una MARCA (ej. zapatillas falsas).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82512" y="292608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1E3D57"/>
          </a:solidFill>
          <a:ln w="16510">
            <a:solidFill>
              <a:srgbClr val="C049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3200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C6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Piratería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02552" y="37033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Mercancía que infringe un DERECHO DE AUTOR (ej. discos piratas).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este capítulo “lejano” no es ajeno al trabajo aduanal — es parte de él.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Ubicar un caso de estos capítulos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65376"/>
            <a:ext cx="402336" cy="40233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¿Compra o licitación pública?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178308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Cap. 9. Verifica umbral + entidad listada.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51176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724912"/>
            <a:ext cx="402336" cy="402336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64261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¿Comercio por medios digitales?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264261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Cap. 14. Distingue producto digital vs. físico.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1071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584448"/>
            <a:ext cx="402336" cy="40233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50215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¿Marcas, patentes o derechos de autor?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350215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Cap. 15.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70248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443984"/>
            <a:ext cx="402336" cy="402336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36168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¿Mercancía falsificada o pirata?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436168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activa las facultades aduaneras de retención.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29784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303520"/>
            <a:ext cx="402336" cy="40233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52212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 la obligación o el derecho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72200" y="522122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revisa listas/umbrales si aplican.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COMUNES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errores de este bloque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2722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2722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que toda compra pública está cubierta (olvidar umbral y entidad listada).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78308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2722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22722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8312" y="189280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un producto físico de e-commerce como “producto digital”.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91820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9182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3872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que la PI no es asunto de aduana (ignorar la observancia en frontera).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34290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391820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39182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53872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Subestimar el carácter OMC-plus del capítulo de PI.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 y entregable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0487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9: principios + la idea de umbrales y entidades cubiertas.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8211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14 completo (es corto): no aranceles a productos digitales.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935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15: detente en la observancia y las medidas en frontera.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365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Hojea el anexo de entidades de RD del Cap. 9.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22128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de 3 capítulos + 1 caso de frontera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65392" y="3200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con qué regula cada capítulo (9, 14, 15) y su disciplina clave; más un mini-caso: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11112" y="41696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40416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actuaría la aduana ante un embarque de mercancía falsificada.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1112" y="4736592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6085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la faculta (del Cap. 15) para retenerla.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65392" y="5349240"/>
            <a:ext cx="4892040" cy="365760"/>
          </a:xfrm>
          <a:prstGeom prst="roundRect">
            <a:avLst>
              <a:gd name="adj" fmla="val 15000"/>
            </a:avLst>
          </a:prstGeom>
          <a:solidFill>
            <a:srgbClr val="1E3D57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5349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el capítulo “lejano” con una situación real.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MÓDULO 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57276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Compras, digital y PI.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4617720" y="253288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395728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compras públicas se abren, pero solo sobre umbral y entidades listadas.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3099816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962656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aranceles a productos digitales; el físico sigue reglas de mercancías.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3666744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529584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 es OMC-plus y la aduana la aplica en la frontera.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4233672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4096512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falsificación (marca) de piratería (derecho de autor).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5074920"/>
            <a:ext cx="7040880" cy="777240"/>
          </a:xfrm>
          <a:prstGeom prst="roundRect">
            <a:avLst>
              <a:gd name="adj" fmla="val 10588"/>
            </a:avLst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50749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 </a:t>
            </a:r>
            <a:pPr algn="l"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9 · Laboral, ambiental e institucionalidad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DR-CAFTA</dc:creator>
  <cp:lastModifiedBy>Curso DR-CAFTA</cp:lastModifiedBy>
  <cp:revision>1</cp:revision>
  <dcterms:created xsi:type="dcterms:W3CDTF">2026-08-14T03:12:31Z</dcterms:created>
  <dcterms:modified xsi:type="dcterms:W3CDTF">2026-08-14T03:12:31Z</dcterms:modified>
</cp:coreProperties>
</file>