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Convierte el dictamen técnico del Módulo 3 en un documento con efectos legales.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diferencia entre 'mi producto califica' y 'cobré la preferencia y la sostuve'.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 saber la regla, sino por certificar bien y defender al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Auto-certificación: la responsabilidad recae en quien firma, no en un tercero que aprobó.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clasificación HS y el criterio de origen son el núcleo — salen directo del dictamen del Módulo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Conservar registros es la obligación que decide una verificación.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aduana de RD se apoya en la cooperación aduanera para pedir información al país del exportador.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Casi siempre se pierde por lo mismo: no conservar registros, criterio equivocado, no responder a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RD las resoluciones anticipadas se solicitan a la DGA (Módulo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expediente de defensa listo es lo que hace ganar una verificación.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estas trampas se previenen con un buen expediente.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expediente es lo que un cliente paga.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Módulo 5: despacho, envíos expresos y tu terreno diario (courier, SIGA/DUA).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MODULAR · COMERCIO EXTERIOR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4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Procedimientos y certificación de origen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declara, se prueba y se defiende el origen  ·  Capítulo 4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3484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de verdad te contratan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 · DR-CAFTA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MÓDULO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Certificar sin errores, defender con soporte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podrá certificar correctamente el origen, conocer las obligaciones de cada actor y saber cómo enfrentar y defender una verificación de origen de la aduana.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Certificar correctamente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todos los elementos mínimos que exige el tratado.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626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886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886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058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Conocer las obligaciones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4058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hacer y conservar cada actor.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Defender una verificación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a la aduana con soportes y a tiempo.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MÓDULO EXISTE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basta con tener la razón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46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Módulo 3 determinaste que un producto es originario. Pero el arancel preferencial no se otorga porque tú lo sepas — se otorga porque lo declaraste y lo puedes probar.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6446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que pierde una verificación paga los aranceles no cobrados más intereses y sanciones, retroactivamente. Evitar eso es dinero.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73736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818120" y="256032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Certificar sin errores y defender la verificación: ahí te contratan.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SOLICITA LA PREFERENCIA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DR-CAFTA usa auto-certificación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6888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88036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certifica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36576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importador, el exportador o el productor. No hace falta un sello de una entidad gubernamental que “apruebe” el origen.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6260" y="24688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6260" y="246888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4658868" y="288036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libre, info mínima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58868" y="36576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formato oficial obligatorio, pero debe contener datos mínimos. Puede ir en la factura o en documento aparte.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24688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246888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476488" y="288036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76488" y="36576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 solo embarque, o una certificación general para embarques idénticos dentro de un período de hasta 12 meses.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MÍNIMOS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debe contener una certificación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el formato sea libre, la certificación debe permitir identificar la mercancía y sustentar el origen: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51560" y="2523744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quien certifica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importador, exportador o productor.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51560" y="3364992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32644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exportador y productor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 son distintos (o si se desconoce).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1560" y="4206240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41056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importador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 se conoce.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51560" y="5047488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49469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mercancía + HS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suficiente para identificarla.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2523744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origen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 el que califica (del Módulo 3).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3364992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2644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cubierto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 es certificación general (hasta 12 meses).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4206240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41056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firma y declaración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 que la información es verdadera.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OBLIGACIONES DE CADA ACTOR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responde por qué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Importador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46888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500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la preferencia y declarar por escrito que es originaria.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443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la certificación al momento de la declaración.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65760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53872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Conservar la certificación y los registros (mín. 5 años).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25196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3308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Presentarla si la aduana la requiere; corregir y pagar si era incorrecta.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169164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69164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1329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1691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Exportador o productor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9672" y="246888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93992" y="23500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la certificación de buena fe.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19672" y="306324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29443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Conservar los soportes del origen (costos, insumos, procesos).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19672" y="365760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793992" y="353872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si descubre que la certificación era incorrecta.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19672" y="425196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93992" y="413308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Cooperar en una verificación (información, visitas).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3293D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07492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por certificación falsa:  </a:t>
            </a:r>
            <a:pPr indent="0" marL="0"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recae en quien firma. La auto-certificación traslada el riesgo al que la emite.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VERIFICACIÓN DE ORIGEN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la aduana pone a prueba el origen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47672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Solicitudes escritas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información al importador, exportador o productor.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6260" y="169164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0580" y="1947672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Cuestionarios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40580" y="256032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exportador o al productor.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83880" y="169164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1947672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Visitas de verificación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256032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 instalaciones, con consentimiento y aviso previo.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PROCESO, POR ETAPAS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6112" y="41148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3D57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1148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70632" y="411480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26664" y="41148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3D57"/>
          </a:solidFill>
          <a:ln/>
        </p:spPr>
      </p:sp>
      <p:sp>
        <p:nvSpPr>
          <p:cNvPr id="18" name="Text 16"/>
          <p:cNvSpPr/>
          <p:nvPr/>
        </p:nvSpPr>
        <p:spPr>
          <a:xfrm>
            <a:off x="3026664" y="41148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info / visita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01184" y="411480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57216" y="41148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3D57"/>
          </a:solidFill>
          <a:ln/>
        </p:spPr>
      </p:sp>
      <p:sp>
        <p:nvSpPr>
          <p:cNvPr id="21" name="Text 19"/>
          <p:cNvSpPr/>
          <p:nvPr/>
        </p:nvSpPr>
        <p:spPr>
          <a:xfrm>
            <a:off x="5157216" y="41148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un plazo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31736" y="411480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87768" y="41148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3D57"/>
          </a:solidFill>
          <a:ln/>
        </p:spPr>
      </p:sp>
      <p:sp>
        <p:nvSpPr>
          <p:cNvPr id="24" name="Text 22"/>
          <p:cNvSpPr/>
          <p:nvPr/>
        </p:nvSpPr>
        <p:spPr>
          <a:xfrm>
            <a:off x="7287768" y="41148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62288" y="411480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18320" y="41148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0A83B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41148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plazo importa: recuerda que los días son calendario (Módulo 1).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VERIFICACIÓN SALE MAL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niega la preferencia — y el cobro es retroactivo.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36676" y="251460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1E3D57"/>
          </a:solidFill>
          <a:ln w="17780">
            <a:solidFill>
              <a:srgbClr val="C049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6676" y="2715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1C6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Aranceles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36676" y="32278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 pagados, ahora exigibles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94276" y="251460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1E3D57"/>
          </a:solidFill>
          <a:ln w="17780">
            <a:solidFill>
              <a:srgbClr val="C04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4276" y="2715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1C6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494276" y="32278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lo adeudado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51876" y="251460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1E3D57"/>
          </a:solidFill>
          <a:ln w="17780">
            <a:solidFill>
              <a:srgbClr val="C049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1876" y="2715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1C6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Sanciones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51876" y="32278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la normativa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522476" y="4160520"/>
            <a:ext cx="9144000" cy="1005840"/>
          </a:xfrm>
          <a:prstGeom prst="roundRect">
            <a:avLst>
              <a:gd name="adj" fmla="val 9091"/>
            </a:avLst>
          </a:prstGeom>
          <a:solidFill>
            <a:srgbClr val="3A2018"/>
          </a:solidFill>
          <a:ln/>
        </p:spPr>
      </p:sp>
      <p:sp>
        <p:nvSpPr>
          <p:cNvPr id="14" name="Text 12"/>
          <p:cNvSpPr/>
          <p:nvPr/>
        </p:nvSpPr>
        <p:spPr>
          <a:xfrm>
            <a:off x="1888236" y="41605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conducta:  </a:t>
            </a:r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3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exportador reincide en certificaciones falsas, la aduana puede negar las preferencias futuras de esas mercancías.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CERTEZA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Resoluciones anticipadas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importar, el interesado puede pedir a la aduana un pronunciamiento vinculante — por ejemplo, sobre si una mercancía es originaria o cómo se clasifica.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resoluciones anticipadas bien fundamentadas es un servicio profesional de alto valor: da certeza y reduce el riesgo de una verificación adversa.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78308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95160" y="2176272"/>
            <a:ext cx="384048" cy="38404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17830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previa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Sabes el trato antes de mover la mercancía.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3081528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95160" y="3474720"/>
            <a:ext cx="384048" cy="38404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0" y="3081528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Vinculante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Obliga a la aduana que la emite, bajo las condiciones dadas.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4379976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95160" y="4773168"/>
            <a:ext cx="384048" cy="38404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0" y="4379976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riesgo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Reduce la probabilidad de una verificación adversa.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Certificar y blindar una operación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9167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19072"/>
            <a:ext cx="329184" cy="32918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62763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dictamen de origen  </a:t>
            </a:r>
            <a:pPr indent="0" marL="0"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criterio y HS ya determinados (Módulo 3).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03704"/>
            <a:ext cx="1109167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2295144"/>
            <a:ext cx="329184" cy="32918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95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2203704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los soportes  </a:t>
            </a:r>
            <a:pPr indent="0" marL="0"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facturas de insumos, hoja de costos, proceso.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9167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" y="2871216"/>
            <a:ext cx="329184" cy="32918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2779776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la certificación  </a:t>
            </a:r>
            <a:pPr indent="0" marL="0"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 todos los elementos mínimos.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55848"/>
            <a:ext cx="1109167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" y="3447288"/>
            <a:ext cx="329184" cy="32918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355848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el alcance  </a:t>
            </a:r>
            <a:pPr indent="0" marL="0"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embarque único o certificación general (12 meses).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9167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" y="4023360"/>
            <a:ext cx="329184" cy="32918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70432" y="3931920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consistencia  </a:t>
            </a:r>
            <a:pPr indent="0" marL="0"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 HS y descripción coincidan con la factura.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507992"/>
            <a:ext cx="1109167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" y="4599432"/>
            <a:ext cx="329184" cy="32918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599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70432" y="450799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 todo  </a:t>
            </a:r>
            <a:pPr indent="0" marL="0"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 el período legal (mín. 5 años), recuperable.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84064"/>
            <a:ext cx="1109167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" y="5175504"/>
            <a:ext cx="329184" cy="32918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5175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70432" y="5084064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una resolución anticipada  </a:t>
            </a:r>
            <a:pPr indent="0" marL="0"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 hay duda o alto riesgo.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660136"/>
            <a:ext cx="1109167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" y="5751576"/>
            <a:ext cx="329184" cy="32918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" y="5751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70432" y="5660136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el expediente de defensa  </a:t>
            </a:r>
            <a:pPr indent="0" marL="0"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 si llega una verificación.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COMUNES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se pierde una verificación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Certificar sin conservar los soportes → nada que mostrar.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8312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origen mal declarado (arrastra un error del Módulo 3).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Incoherencia: HS o descripción distintos entre certificación y factura.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una certificación general fuera de su período de 12 meses.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26694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1032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los plazos de respuesta (días calendario) en la verificación.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00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registros que prueben el origen, en la verificación no hay defensa.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y entregable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0487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4, sección de procedimientos de origen (Art. 4.16 en adelante).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821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certificación y su contenido; obligaciones y registros.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disposiciones de verificación — atención a plazos.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365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el DR-CAFTA no exige certificado de formato oficial.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Expediente de origen de 1 producto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65392" y="3200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Tomando un producto del Módulo 3, arma el paquete real: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1112" y="384962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730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certificación de origen redactada.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1112" y="430682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1879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 soportes que la respaldan.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11112" y="476402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6451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cálculo de VCR documentado, si aplica.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11112" y="522122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51023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“hoja de defensa” para una verificación.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65392" y="5532120"/>
            <a:ext cx="4892040" cy="274320"/>
          </a:xfrm>
          <a:prstGeom prst="roundRect">
            <a:avLst>
              <a:gd name="adj" fmla="val 20000"/>
            </a:avLst>
          </a:prstGeom>
          <a:solidFill>
            <a:srgbClr val="1E3D57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5486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terminado del servicio de origen.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MÓDULO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7276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origen a la prueba.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617720" y="257860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4414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DR-CAFTA usa auto-certificación: responde quien firma.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17720" y="3145536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0837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certificación necesita elementos mínimos, no un formato oficial.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617720" y="3712464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57530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verificación se gana con registros y respuestas a tiempo.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617720" y="4279392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41422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resolución anticipada da certeza antes de importar.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0" y="5074920"/>
            <a:ext cx="7040880" cy="777240"/>
          </a:xfrm>
          <a:prstGeom prst="roundRect">
            <a:avLst>
              <a:gd name="adj" fmla="val 10588"/>
            </a:avLst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5074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 </a:t>
            </a:r>
            <a:pPr algn="l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5 · Administración aduanera y facilitación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DR-CAFTA</dc:creator>
  <cp:lastModifiedBy>Curso DR-CAFTA</cp:lastModifiedBy>
  <cp:revision>1</cp:revision>
  <dcterms:created xsi:type="dcterms:W3CDTF">2026-08-14T02:48:32Z</dcterms:created>
  <dcterms:modified xsi:type="dcterms:W3CDTF">2026-08-14T02:48:32Z</dcterms:modified>
</cp:coreProperties>
</file>