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introductorio. Objetivo: dar el método de lectura de cualquier tratado usando el DR-CAFTA como vehículo. No se memoriza el tratado; se aprende a navegarlo.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el cambio de mentalidad: el especialista no memoriza el tratado, sabe navegarlo. Los 6 pasos se ven al final del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costo real del error: leer el artículo sin su anexo lleva a dar una respuesta errada a un cliente. Este módulo previene 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ideas se repiten en todo el curso. La del medio (libre ≠ sin reglas) es la semilla del Módulo 6 sobre barreras no arancelarias.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anexo (marcado con estrella) es lo que tumba a la mayoría: el artículo sin su anexo es una verdad a medias.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alto impacto. Este es el hábito central que el módulo instala.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I concentra el trabajo aduanal. El curso pone el peso ahí (Módulos 2–6). Numeración de servicios puede variar según edición; se confirma con el índice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secuencia se repite en todos los módulos siguientes. Es el 'algoritmo' de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Convención de Viena es la regla madre. Conecta con conocer la OMC (learning.wto.org).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estos errores nacen de no dominar la estructura. Por eso el Módulo 0 va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entregable se reutiliza en cada módulo posterior como mapa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1: por qué las definiciones mandan sobre todo el 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tratado: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leer el DR-CAFTA sin perderte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52628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lectura que sostiene todo el curso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leer, no a memorizar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podrá abrir cualquier tratado de libre comercio y saber exactamente dónde buscar lo que necesita, entendiendo cómo se conectan sus partes.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los componentes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capítulos, artículos, anexos, notas y definiciones — y su jerarquía.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cómo un anexo modifica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por qué el texto de un artículo es incompleto sin su anexo.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el método de 6 pasos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cualquier pregunta comercial siguiendo una secuencia fija.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MÓDULO EXISTE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error que casi todos cometen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46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quienes “conocen” un tratado en realidad conocen resúmenes de terceros. Cuando llega un caso real y hay que abrir el texto oficial, se pierden: no saben si la respuesta está en el capítulo, en un anexo, en una nota o en una lista — y terminan leyendo el artículo equivocado.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446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instala el reflejo profesional de saber SIEMPRE dónde mirar. Es el que nadie enseña y el que más se necesita.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51460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dominar la estructura, todo lo demás se construye sobre arena.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BASE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un TLC — y qué NO 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tratado de libre comercio es un acuerdo internacional vinculante que crea una zona de libre comercio: reduce o elimina aranceles y fija reglas comunes entre los países.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80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contrato entre Estados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886200"/>
            <a:ext cx="2871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los países, no es una ley nacional. Cada país lo incorpora a su legislación interna para aplicarlo.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6260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658868" y="2880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“Libre” no es “sin reglas”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58868" y="3886200"/>
            <a:ext cx="2871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sin (o con menos) aranceles. Las reglas de origen, sanitarias y técnicas siguen ahí — a veces más exigentes.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5" name="Text 13"/>
          <p:cNvSpPr/>
          <p:nvPr/>
        </p:nvSpPr>
        <p:spPr>
          <a:xfrm>
            <a:off x="8476488" y="2880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cubre todo por igual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76488" y="3886200"/>
            <a:ext cx="2871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exclusiones, cuotas y cronogramas. Un producto puede estar libre, en desgravación gradual o excluido.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JERARQUÍA DEL TRATADO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bloques de construcción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general a lo específico. Cada nivel puede precisar o modificar al anterior.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137160" cy="1371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75688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Preámbulo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69748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espíritu. Sirve para interpretar el resto.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9632" y="196596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2331720"/>
            <a:ext cx="137160" cy="1371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6656832" y="2075688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48472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temática principal. El DR-CAFTA tiene 22.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328416"/>
            <a:ext cx="137160" cy="1371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72384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Artículos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697480" y="30540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obligación concreta. Se citan por capítulo: Art. 4.16.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9632" y="2962656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BF1DC"/>
          </a:solidFill>
          <a:ln w="17780">
            <a:solidFill>
              <a:srgbClr val="E0A8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3328416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656832" y="3072384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48472" y="305409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Modifican o detallan el artículo. Aquí está la trampa.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25112"/>
            <a:ext cx="137160" cy="1371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069080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Apéndices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697480" y="40507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nivel más de detalle dentro del anexo.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9632" y="3959352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4325112"/>
            <a:ext cx="137160" cy="1371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7" name="Text 25"/>
          <p:cNvSpPr/>
          <p:nvPr/>
        </p:nvSpPr>
        <p:spPr>
          <a:xfrm>
            <a:off x="6656832" y="4069080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348472" y="40507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Precisiones que pueden cambiar el sentido. Se leen siempre.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956048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321808"/>
            <a:ext cx="137160" cy="1371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065776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 (Schedules)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2697480" y="50474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por país: desgravación, servicios, compras.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99632" y="4956048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2512" y="5321808"/>
            <a:ext cx="137160" cy="1371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5" name="Text 33"/>
          <p:cNvSpPr/>
          <p:nvPr/>
        </p:nvSpPr>
        <p:spPr>
          <a:xfrm>
            <a:off x="6656832" y="5065776"/>
            <a:ext cx="1828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Definiciones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348472" y="50474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Mandan sobre el lenguaje común. Generales y por capítulo.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 DEL MÓDULO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leas un artículo solo.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54964" y="28803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E3D57"/>
          </a:solidFill>
          <a:ln w="16510">
            <a:solidFill>
              <a:srgbClr val="2A7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4964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Artículo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86684" y="288036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70732" y="28803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E3D57"/>
          </a:solidFill>
          <a:ln w="16510">
            <a:solidFill>
              <a:srgbClr val="2A7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0732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02452" y="288036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86500" y="28803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E3D57"/>
          </a:solidFill>
          <a:ln w="1651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500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18220" y="288036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002268" y="288036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E3D57"/>
          </a:solidFill>
          <a:ln w="16510">
            <a:solidFill>
              <a:srgbClr val="2A7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2268" y="28803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Definiciones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37276" y="3977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808476" y="46177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E0A83B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08476" y="46177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norma completa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FC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juntos son la norma. Leídos por separado, engañan.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DR-CAFTA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22 capítulos en 5 bloques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BF1DC"/>
          </a:solidFill>
          <a:ln w="1778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682496"/>
            <a:ext cx="868680" cy="585216"/>
          </a:xfrm>
          <a:prstGeom prst="roundRect">
            <a:avLst>
              <a:gd name="adj" fmla="val 9375"/>
            </a:avLst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682496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673352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del juego para las mercancías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806440" y="165506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1–5 · Disposiciones, definiciones, acceso a mercados, reglas de origen, administración aduanera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37360" y="2084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del trabajo aduanal diario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" y="2633472"/>
            <a:ext cx="868680" cy="585216"/>
          </a:xfrm>
          <a:prstGeom prst="roundRect">
            <a:avLst>
              <a:gd name="adj" fmla="val 9375"/>
            </a:avLst>
          </a:prstGeom>
          <a:solidFill>
            <a:srgbClr val="2A7F8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63347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262432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Barreras no arancelarias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806440" y="26060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6–8 · Medidas sanitarias y fitosanitarias, obstáculos técnicos, defensa comercial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" y="3584448"/>
            <a:ext cx="868680" cy="585216"/>
          </a:xfrm>
          <a:prstGeom prst="roundRect">
            <a:avLst>
              <a:gd name="adj" fmla="val 9375"/>
            </a:avLst>
          </a:prstGeom>
          <a:solidFill>
            <a:srgbClr val="2A7F8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584448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35753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e inversión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806440" y="355701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9–14 · Contratación pública, inversión, servicios transfronterizos, financieros, telecom, comercio electrónico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07408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4535424"/>
            <a:ext cx="868680" cy="585216"/>
          </a:xfrm>
          <a:prstGeom prst="roundRect">
            <a:avLst>
              <a:gd name="adj" fmla="val 9375"/>
            </a:avLst>
          </a:prstGeom>
          <a:solidFill>
            <a:srgbClr val="2A7F8E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535424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37360" y="45262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Temas ligados al comercio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806440" y="450799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15–17 · Propiedad intelectual, laboral, ambiental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58384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" y="5486400"/>
            <a:ext cx="868680" cy="585216"/>
          </a:xfrm>
          <a:prstGeom prst="roundRect">
            <a:avLst>
              <a:gd name="adj" fmla="val 9375"/>
            </a:avLst>
          </a:prstGeom>
          <a:solidFill>
            <a:srgbClr val="2A7F8E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5486400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737360" y="5477256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del tratado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806440" y="545896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18–22 · Transparencia, administración, solución de controversias, excepciones, disposiciones finales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CONSULTA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pasos para responder cualquier caso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58775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tu pregunta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1729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¿Arancel? ¿Origen? ¿Permiso? Ubica el tema.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6260" y="1691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2292" y="192938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4622292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2292" y="258775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 el capítulo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22292" y="31729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índice y la agrupación por bloques.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92938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929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39912" y="258775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el artículo con su anexo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9912" y="31729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el artículo suelto — el anexo es parte.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1538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15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487375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las definiciones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4589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capítulo primero; luego el Capítulo 2.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6260" y="3977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2292" y="4215384"/>
            <a:ext cx="512064" cy="51206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6" name="Text 24"/>
          <p:cNvSpPr/>
          <p:nvPr/>
        </p:nvSpPr>
        <p:spPr>
          <a:xfrm>
            <a:off x="4622292" y="4215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22292" y="487375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notas y excepciones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22292" y="54589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al pie, listas de RD, cartas adjuntas.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3977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9912" y="4215384"/>
            <a:ext cx="512064" cy="51206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31" name="Text 29"/>
          <p:cNvSpPr/>
          <p:nvPr/>
        </p:nvSpPr>
        <p:spPr>
          <a:xfrm>
            <a:off x="8439912" y="4215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39912" y="487375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Contrasta con 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39912" y="545896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aplican la DGA y la norma nacional.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INTERPRETACIÓN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lee cuando el texto no es obvio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28800"/>
            <a:ext cx="438912" cy="438912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Convención de Viena (Art. 31)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0" y="1719072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interpreta de buena fe, según el sentido corriente, en su contexto y a la luz de su objeto y fin.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8096" y="2779776"/>
            <a:ext cx="438912" cy="438912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6700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texto prevalece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0" y="2670048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que “quiso decir” alguien, sino lo que dice.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730752"/>
            <a:ext cx="438912" cy="438912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2102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definiciones mandan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0" y="362102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significado del tratado vence al del diccionario común.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681728"/>
            <a:ext cx="438912" cy="438912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681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5720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específico vence a lo general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0" y="4572000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 específica de una partida vence a la regla general del capítulo.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315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" y="5632704"/>
            <a:ext cx="438912" cy="438912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5632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52297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anexo precisa al artículo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0" y="5522976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contradice: se lee el conjunto buscando coherencia.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que cuestan plata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artículo e ignorar su anexo → respuesta incompleta.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significado “de calle” de un término en vez de la definición del tratado.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“libre comercio” = “entra sin requisitos”.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canasta de desgravación del país equivocado.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lo que dice el tratado con cómo lo aplica la aduana dominicana.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artículo + anexo + notas + definiciones.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Preámbulo completo (es corto).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general — ver los 22 capítulos y sus anexos.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(Disposiciones Iniciales) — hojearlo.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 anexo cualquiera (ej. Anexo 3.3) solo para ver cómo luce.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del DR-CAFTA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65392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esquema de una página que muestre: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364992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22783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22 capítulos agrupados en los 5 bloques.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1112" y="3931920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7947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Cuáles capítulos tienen anexos.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11112" y="4498848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3616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capítulos clave para aduanas.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65392" y="5138928"/>
            <a:ext cx="4892040" cy="502920"/>
          </a:xfrm>
          <a:prstGeom prst="roundRect">
            <a:avLst>
              <a:gd name="adj" fmla="val 14545"/>
            </a:avLst>
          </a:prstGeom>
          <a:solidFill>
            <a:srgbClr val="1E3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51389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Será tu herramienta de navegación para todo el curso.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tienes el mapa.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617720" y="257860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4414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tratado tiene niveles — y el anexo modifica al artículo.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314553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0837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+ anexo + notas + definiciones = la norma completa.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17720" y="371246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753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capítulos, 5 bloques; el Bloque I es tu terreno.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617720" y="427939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1422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fijo de 6 pasos para cualquier consulta.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10588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50749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 · Disposiciones Iniciales y Definiciones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2026-08-13T15:13:08Z</dcterms:created>
  <dcterms:modified xsi:type="dcterms:W3CDTF">2026-08-13T15:13:08Z</dcterms:modified>
</cp:coreProperties>
</file>