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módulo más denso e importante. Todo cuelga de la clasificación 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servicio profesional vendible: determinar origen con criterio.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Dominar este módulo evita el desastre de la verificación y es exactamente el servicio que se factura.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central del módulo. Repetirlo.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camino 3 (transformación sustancial) es el que exige la regla específica de la partida.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siguientes slides desglosan CTC, VCR y proceso específico.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lógica: hubo transformación real, no un simple reempaque.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la regla exige, p.ej., 45% build-down, el producto debe alcanzar ese umbral.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el ejemplo de la camisa que abrió el módulo.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minimis y acumulación (resaltados) son los salvavidas más usados.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ejercicio central del curso. Documentar el criterio es clave para el certificado (Módulo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HS mal asignado arrastra una regla y un origen equivocados.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dictamen es el servicio profesional y el primer registro que alimentaría el sistema de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al Módulo 4: cómo se declara, certifica y defiende el origen que acabas de determinar.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325880"/>
            <a:ext cx="4206240" cy="4206240"/>
          </a:xfrm>
          <a:prstGeom prst="ellipse">
            <a:avLst/>
          </a:prstGeom>
          <a:solidFill>
            <a:srgbClr val="2A7F8E">
              <a:alpha val="10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1874520"/>
            <a:ext cx="3108960" cy="3108960"/>
          </a:xfrm>
          <a:prstGeom prst="ellipse">
            <a:avLst/>
          </a:prstGeom>
          <a:solidFill>
            <a:srgbClr val="2A7F8E">
              <a:alpha val="16000"/>
            </a:srgbClr>
          </a:solidFill>
          <a:ln w="12700">
            <a:solidFill>
              <a:srgbClr val="E0A83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377440"/>
            <a:ext cx="2103120" cy="2103120"/>
          </a:xfrm>
          <a:prstGeom prst="ellipse">
            <a:avLst/>
          </a:prstGeom>
          <a:solidFill>
            <a:srgbClr val="2A7F8E">
              <a:alpha val="26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0" y="2880360"/>
            <a:ext cx="1097280" cy="10972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MODULAR · COMERCIO EXTERIOR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3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de Origen: el corazón del tratado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34930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¿El producto califica como originario?  ·  Capítulo 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1E3D5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43484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músculo técnico que un cliente paga por saber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República Dominicana · DR-CAFTA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MÓDULO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Decidir si un producto es originario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terminar, el estudiante podrá tomar un producto y determinar si califica como “originario” bajo el DR-CAFTA, aplicando el criterio correcto y leyendo la regla específica de su partida HS.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82549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Identificar el camino de origen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Totalmente obtenido, con materiales originarios o transformación sustancial.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6260" y="25146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8868" y="282549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5886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40580" y="356616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Aplicar el criterio correcto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40580" y="4389120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clasificación, valor de contenido regional o proceso específico.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25146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76488" y="282549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847648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58200" y="356616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Leer la regla de la partida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58200" y="4389120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y aplicar la regla específica del Anexo 4.1.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MÓDULO EXISTE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pregunta que vale dinero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46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producto viene de un país miembro… ¿pero califica para el arancel preferencial? No basta con que venga de la zona: tiene que ser originario, y “originario” tiene una definición técnica precisa.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6446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unas camisas cosidas en un país del DR-CAFTA, pero con tela e hilo comprados en Asia. ¿Originarias? Probablemente no. Si se reclamó la preferencia sin verificarlo, en una verificación cobran los aranceles más sanciones.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52360" y="1737360"/>
            <a:ext cx="4160520" cy="3246120"/>
          </a:xfrm>
          <a:prstGeom prst="roundRect">
            <a:avLst>
              <a:gd name="adj" fmla="val 2817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818120" y="260604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cuelga de la clasificación HS — tu fortaleza.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QUE LO CAMBIA TODO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463040" y="2331720"/>
            <a:ext cx="3977640" cy="1280160"/>
          </a:xfrm>
          <a:prstGeom prst="roundRect">
            <a:avLst>
              <a:gd name="adj" fmla="val 8571"/>
            </a:avLst>
          </a:prstGeom>
          <a:solidFill>
            <a:srgbClr val="1E3D57"/>
          </a:solidFill>
          <a:ln w="1778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2331720"/>
            <a:ext cx="3977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Venir de un</a:t>
            </a:r>
            <a:endParaRPr lang="en-US" sz="2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país miembro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40680" y="23317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720840" y="2331720"/>
            <a:ext cx="3977640" cy="1280160"/>
          </a:xfrm>
          <a:prstGeom prst="roundRect">
            <a:avLst>
              <a:gd name="adj" fmla="val 8571"/>
            </a:avLst>
          </a:prstGeom>
          <a:solidFill>
            <a:srgbClr val="E0A83B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20840" y="2331720"/>
            <a:ext cx="3977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</a:t>
            </a:r>
            <a:endParaRPr lang="en-US" sz="2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originario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94560" y="4114800"/>
            <a:ext cx="7799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arancel preferencial NO aplica solo por venir de un país miembro. El producto debe calificar como originario. Este es el error más caro del comercio preferencial.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 “ORIGINARIO”?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caminos para serlo (Art. 4.1)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743200"/>
            <a:ext cx="512064" cy="512064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43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Totalmente obtenido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2907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Obtenido o producido enteramente en la zona: minerales extraídos, plantas cosechadas, animales criados, pesca de sus aguas. Sin insumos de fuera.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6260" y="246888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0580" y="2743200"/>
            <a:ext cx="512064" cy="512064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11" name="Text 9"/>
          <p:cNvSpPr/>
          <p:nvPr/>
        </p:nvSpPr>
        <p:spPr>
          <a:xfrm>
            <a:off x="4640580" y="2743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40580" y="342900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materiales originarios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0580" y="4206240"/>
            <a:ext cx="2907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Fabricado enteramente a partir de materiales que ya son originarios de las Partes.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3880" y="246888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FBF1DC"/>
          </a:solidFill>
          <a:ln w="17780">
            <a:solidFill>
              <a:srgbClr val="E0A83B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743200"/>
            <a:ext cx="512064" cy="51206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743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58200" y="342900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Transformación sustancial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4206240"/>
            <a:ext cx="2907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Contiene insumos no originarios, pero transformados lo suficiente en la zona como para “cambiar de nacionalidad”. El 90% de los casos.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SUSTANCIAL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criterios de la regla específica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hay insumos no originarios, la regla específica del Anexo 4.1 dice qué debe cumplirse: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48840"/>
            <a:ext cx="128016" cy="1691640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6829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Cambio de Clasificación (CTC)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insumo no originario debe “saltar” de código HS al incorporarse al producto.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9632" y="214884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2148840"/>
            <a:ext cx="128016" cy="1691640"/>
          </a:xfrm>
          <a:prstGeom prst="roundRect">
            <a:avLst>
              <a:gd name="adj" fmla="val 14286"/>
            </a:avLst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236829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de Contenido Regional (VCR)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565392" y="29718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% mínimo del valor del producto debe originarse en la zona.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41648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041648"/>
            <a:ext cx="128016" cy="1691640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6110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CTC + VCR combinados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14400" y="486460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reglas exigen ambos: cambio de código Y cierto VCR.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99632" y="4041648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9632" y="4041648"/>
            <a:ext cx="128016" cy="1691640"/>
          </a:xfrm>
          <a:prstGeom prst="roundRect">
            <a:avLst>
              <a:gd name="adj" fmla="val 14286"/>
            </a:avLst>
          </a:prstGeom>
          <a:solidFill>
            <a:srgbClr val="E0A83B"/>
          </a:solidFill>
          <a:ln/>
        </p:spPr>
      </p:sp>
      <p:sp>
        <p:nvSpPr>
          <p:cNvPr id="19" name="Text 17"/>
          <p:cNvSpPr/>
          <p:nvPr/>
        </p:nvSpPr>
        <p:spPr>
          <a:xfrm>
            <a:off x="6565392" y="426110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específico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565392" y="486460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sectores como textiles: un proceso que debe ocurrir en la zona.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1 · CAMBIO DE CLASIFICACIÓN (CTC)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insumo debe “saltar” de código HS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943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83664"/>
            <a:ext cx="1234440" cy="758952"/>
          </a:xfrm>
          <a:prstGeom prst="roundRect">
            <a:avLst>
              <a:gd name="adj" fmla="val 7229"/>
            </a:avLst>
          </a:prstGeom>
          <a:solidFill>
            <a:srgbClr val="2A7F8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83664"/>
            <a:ext cx="12344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103120" y="18836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Cambio de capítulo (2 dígitos)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03120" y="2331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salto más exigente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53512"/>
            <a:ext cx="5943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099816"/>
            <a:ext cx="1234440" cy="758952"/>
          </a:xfrm>
          <a:prstGeom prst="roundRect">
            <a:avLst>
              <a:gd name="adj" fmla="val 7229"/>
            </a:avLst>
          </a:prstGeom>
          <a:solidFill>
            <a:srgbClr val="2A7F8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099816"/>
            <a:ext cx="12344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CTH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103120" y="309981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Cambio de partida (4 dígitos)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03120" y="35478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más común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69664"/>
            <a:ext cx="5943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4315968"/>
            <a:ext cx="1234440" cy="758952"/>
          </a:xfrm>
          <a:prstGeom prst="roundRect">
            <a:avLst>
              <a:gd name="adj" fmla="val 7229"/>
            </a:avLst>
          </a:prstGeom>
          <a:solidFill>
            <a:srgbClr val="2A7F8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315968"/>
            <a:ext cx="12344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CTSH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103120" y="43159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Cambio de subpartida (6 dígitos)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103120" y="47640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más flexible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737360"/>
            <a:ext cx="4800600" cy="3657600"/>
          </a:xfrm>
          <a:prstGeom prst="roundRect">
            <a:avLst>
              <a:gd name="adj" fmla="val 2500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3232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22860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 con harina importada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132320" y="3017520"/>
            <a:ext cx="4160520" cy="685800"/>
          </a:xfrm>
          <a:prstGeom prst="roundRect">
            <a:avLst>
              <a:gd name="adj" fmla="val 9333"/>
            </a:avLst>
          </a:prstGeom>
          <a:solidFill>
            <a:srgbClr val="1E3D57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301752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Harina importada · partida 11.01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887968" y="3703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32320" y="4069080"/>
            <a:ext cx="4160520" cy="685800"/>
          </a:xfrm>
          <a:prstGeom prst="roundRect">
            <a:avLst>
              <a:gd name="adj" fmla="val 9333"/>
            </a:avLst>
          </a:prstGeom>
          <a:solidFill>
            <a:srgbClr val="E0A83B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406908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 · partida 19.05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132320" y="48463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harina saltó de la 11.01 a la 19.05 → hay cambio de partida. Si la regla pide CTH, se cumple.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2 · VALOR DE CONTENIDO REGIONAL (VCR)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% del valor debe originarse en la zona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 por uno de dos métodos que define el tratado: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574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del valor (build-up)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del valor de los materiales originarios.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9632" y="20574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9672" y="20574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del valor (build-down)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del valor total menos el de los no originarios.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520440"/>
            <a:ext cx="10360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VCR = </a:t>
            </a:r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(Valor Ajustado − Valor de Materiales No Originarios) / Valor Ajustado ] × 100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BF1DC"/>
          </a:solidFill>
          <a:ln w="15240">
            <a:solidFill>
              <a:srgbClr val="E0A8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93776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electrodoméstico ensamblado con partes importadas. Si un componente menor rompe el CTC pero es &lt; 10% del valor, de minimis lo salva.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3 · PROCESO ESPECÍFICO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Textiles: la regla “hilaza en adelante”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ciertos sectores —notablemente textiles y confección— la regla no habla de saltos de código, sino de un proceso que debe ocurrir en la zona.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“yarn forward”: para que una prenda sea originaria, el hilo debe producirse en la zona, la tela tejerse en la zona y la prenda confeccionarse en la zona.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20840" y="1737360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6510">
            <a:solidFill>
              <a:srgbClr val="2A7F8E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0" y="17373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58200" y="17373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producido en la zona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92540" y="2542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20840" y="2798064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6510">
            <a:solidFill>
              <a:srgbClr val="2A7F8E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40880" y="279806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58200" y="2798064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tejida en la zona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92540" y="36027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20840" y="3858768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6510">
            <a:solidFill>
              <a:srgbClr val="2A7F8E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385876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Prenda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58200" y="385876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confeccionada en la zona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7E9E4"/>
          </a:solidFill>
          <a:ln w="15240">
            <a:solidFill>
              <a:srgbClr val="C049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89204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camisa cosida en la zona pero con tela asiática NO califica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la tela no se tejió en la zona.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APOYO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Ajustan o flexibilizan el resultado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56432" cy="2011680"/>
          </a:xfrm>
          <a:prstGeom prst="roundRect">
            <a:avLst>
              <a:gd name="adj" fmla="val 3636"/>
            </a:avLst>
          </a:prstGeom>
          <a:solidFill>
            <a:srgbClr val="FBF1DC"/>
          </a:solidFill>
          <a:ln w="16510">
            <a:solidFill>
              <a:srgbClr val="E0A83B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47088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minimis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95728"/>
            <a:ext cx="29077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insumos no originarios que no cambiaron de código no superan ~10% del valor, el producto igual califica.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6260" y="1645920"/>
            <a:ext cx="3456432" cy="2011680"/>
          </a:xfrm>
          <a:prstGeom prst="roundRect">
            <a:avLst>
              <a:gd name="adj" fmla="val 3636"/>
            </a:avLst>
          </a:prstGeom>
          <a:solidFill>
            <a:srgbClr val="FBF1DC"/>
          </a:solidFill>
          <a:ln w="16510">
            <a:solidFill>
              <a:srgbClr val="E0A83B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40580" y="1847088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Acumulación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40580" y="2395728"/>
            <a:ext cx="29077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materiales originarios de cualquier Parte cuentan como propios. Hace funcionar la zona como bloque.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83880" y="1645920"/>
            <a:ext cx="34564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58200" y="1847088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Materiales indirectos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58200" y="2395728"/>
            <a:ext cx="29077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Energía, combustible, catalizadores, guantes: se consideran originarios sin importar su procedencia.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4564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041648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Materiales fungibles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590288"/>
            <a:ext cx="29077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idénticos mezclados en inventario: se asignan con métodos contables.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66260" y="3840480"/>
            <a:ext cx="34564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0580" y="4041648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Accesorios y envases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40580" y="4590288"/>
            <a:ext cx="29077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Repuestos, herramientas y empaque siguen el origen del producto principal.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83880" y="3840480"/>
            <a:ext cx="34564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58200" y="4041648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Expedición directa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58200" y="4590288"/>
            <a:ext cx="29077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origen se pierde si el producto se procesa fuera de la zona durante el tránsito.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Determinar el origen, paso a paso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645920"/>
            <a:ext cx="310896" cy="31089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5727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el producto final  </a:t>
            </a:r>
            <a:pPr indent="0" marL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obtén su código HS.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2157984"/>
            <a:ext cx="310896" cy="310896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0848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¿Totalmente obtenido o solo con materiales originarios?  </a:t>
            </a:r>
            <a:pPr indent="0" marL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 sí → originario.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596896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7512" y="2670048"/>
            <a:ext cx="310896" cy="31089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25968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 insumos no originarios?  </a:t>
            </a:r>
            <a:pPr indent="0" marL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 al Anexo 4.1.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" y="3182112"/>
            <a:ext cx="310896" cy="310896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182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31089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 la regla específica de la partida  </a:t>
            </a:r>
            <a:pPr indent="0" marL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 léela.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621024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" y="3694176"/>
            <a:ext cx="310896" cy="31089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362102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exige la regla?  </a:t>
            </a:r>
            <a:pPr indent="0" marL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CTC / VCR / ambos / proceso.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" y="4206240"/>
            <a:ext cx="310896" cy="310896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43000" y="41330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el criterio  </a:t>
            </a:r>
            <a:pPr indent="0" marL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salto de código o cálculo de VCR.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645152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7512" y="4718304"/>
            <a:ext cx="310896" cy="31089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" y="4718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43000" y="46451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¿Algún insumo no cumplió el CTC?  </a:t>
            </a:r>
            <a:pPr indent="0" marL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aplica de minimis.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157216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7512" y="5230368"/>
            <a:ext cx="310896" cy="310896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" y="5230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43000" y="515721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¿Puedes usar acumulación?  </a:t>
            </a:r>
            <a:pPr indent="0" marL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revisa insumos de otras Partes.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566928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67512" y="5742432"/>
            <a:ext cx="310896" cy="31089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38" name="Text 36"/>
          <p:cNvSpPr/>
          <p:nvPr/>
        </p:nvSpPr>
        <p:spPr>
          <a:xfrm>
            <a:off x="667512" y="5742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143000" y="56692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expedición directa  </a:t>
            </a:r>
            <a:pPr indent="0" marL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concluye y documenta el criterio.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TRAMPAS COMUNES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errores que cuestan plata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15798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“viene de un país miembro” con “es originario”.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632" y="16916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215798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0" name="Text 8"/>
          <p:cNvSpPr/>
          <p:nvPr/>
        </p:nvSpPr>
        <p:spPr>
          <a:xfrm>
            <a:off x="6437376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68312" y="180136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clasificar bien el producto o los insumos → regla y origen equivocados.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371246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35584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la regla general cuando existe una regla específica de partida.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9632" y="324612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7376" y="371246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8" name="Text 16"/>
          <p:cNvSpPr/>
          <p:nvPr/>
        </p:nvSpPr>
        <p:spPr>
          <a:xfrm>
            <a:off x="6437376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68312" y="335584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de minimis y acumulación → declarar “no originario” lo que sí calificaba.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526694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5266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91032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la expedición directa → un transbordo que rompe el origen.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99632" y="480060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13293D"/>
          </a:solidFill>
          <a:ln/>
        </p:spPr>
      </p:sp>
      <p:sp>
        <p:nvSpPr>
          <p:cNvPr id="25" name="Text 23"/>
          <p:cNvSpPr/>
          <p:nvPr/>
        </p:nvSpPr>
        <p:spPr>
          <a:xfrm>
            <a:off x="6473952" y="48006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Recuerda: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 bien, lee la regla de la partida, aplica los salvavidas.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guiada y entregable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guiada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40487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4, sección de reglas de origen (Art. 4.1 a ~4.15).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33756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18211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4.1 — el anexo más importante para tu trabajo.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11480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95935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su formato: se ordena por partida HS.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89204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73659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 la regla de 2 productos de tu interés.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45352" y="16459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65392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65392" y="221284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Dictamen de origen de 2 productos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565392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producto con insumos importados: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11112" y="371246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35935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del producto y de sus insumos.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11112" y="416966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40507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del Anexo 4.1 y criterio aplicado.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11112" y="462686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45079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VCR / de minimis si corresponde.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11112" y="508406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49651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razonada: originario o no.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65392" y="5504688"/>
            <a:ext cx="4892040" cy="292608"/>
          </a:xfrm>
          <a:prstGeom prst="roundRect">
            <a:avLst>
              <a:gd name="adj" fmla="val 18750"/>
            </a:avLst>
          </a:prstGeom>
          <a:solidFill>
            <a:srgbClr val="1E3D57"/>
          </a:solidFill>
          <a:ln/>
        </p:spPr>
      </p:sp>
      <p:sp>
        <p:nvSpPr>
          <p:cNvPr id="27" name="Text 25"/>
          <p:cNvSpPr/>
          <p:nvPr/>
        </p:nvSpPr>
        <p:spPr>
          <a:xfrm>
            <a:off x="6565392" y="54681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Es, literalmente, el servicio que venderás.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1325880"/>
            <a:ext cx="4206240" cy="4206240"/>
          </a:xfrm>
          <a:prstGeom prst="ellipse">
            <a:avLst/>
          </a:prstGeom>
          <a:solidFill>
            <a:srgbClr val="2A7F8E">
              <a:alpha val="10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74520"/>
            <a:ext cx="3108960" cy="3108960"/>
          </a:xfrm>
          <a:prstGeom prst="ellipse">
            <a:avLst/>
          </a:prstGeom>
          <a:solidFill>
            <a:srgbClr val="2A7F8E">
              <a:alpha val="16000"/>
            </a:srgbClr>
          </a:solidFill>
          <a:ln w="12700">
            <a:solidFill>
              <a:srgbClr val="E0A83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377440"/>
            <a:ext cx="2103120" cy="2103120"/>
          </a:xfrm>
          <a:prstGeom prst="ellipse">
            <a:avLst/>
          </a:prstGeom>
          <a:solidFill>
            <a:srgbClr val="2A7F8E">
              <a:alpha val="26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880360"/>
            <a:ext cx="1097280" cy="10972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1234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MÓDULO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572768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núcleo, dominado.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617720" y="2578608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244144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Venir de un miembro ≠ ser originario.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617720" y="3145536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00837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caminos; el clave es la transformación sustancial.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617720" y="3712464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57530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CTC, VCR o proceso específico — según la regla de la partida.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617720" y="4279392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414223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minimis y acumulación pueden salvar el origen.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572000" y="5074920"/>
            <a:ext cx="7040880" cy="777240"/>
          </a:xfrm>
          <a:prstGeom prst="roundRect">
            <a:avLst>
              <a:gd name="adj" fmla="val 10588"/>
            </a:avLst>
          </a:prstGeom>
          <a:solidFill>
            <a:srgbClr val="E0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50749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 </a:t>
            </a:r>
            <a:pPr algn="l" indent="0" marL="0">
              <a:buNone/>
            </a:pPr>
            <a:r>
              <a:rPr lang="en-US" sz="15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4 · Certificación y verificación de origen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Curso DR-CAFTA</dc:creator>
  <cp:lastModifiedBy>Curso DR-CAFTA</cp:lastModifiedBy>
  <cp:revision>1</cp:revision>
  <dcterms:created xsi:type="dcterms:W3CDTF">2026-08-14T02:42:38Z</dcterms:created>
  <dcterms:modified xsi:type="dcterms:W3CDTF">2026-08-14T02:42:38Z</dcterms:modified>
</cp:coreProperties>
</file>