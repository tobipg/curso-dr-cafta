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capítulo que conecta el tratado con la operación real: despacho, courier, SIGA/DUA.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nada sirve una preferencia si la mercancía se atasca 15 días en aduana.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el tratado deja de ser abstracto y se vuelve operación.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tratado empuja hacia el despacho ágil, electrónico y anticipado — la lógica del SIGA.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Entender la gestión de riesgo explica por qué unos embarques se detienen y otros no. En RD, es la lógica del SIGA.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Conocer el umbral de minimis vigente, la documentación anticipada y el manifiesto único es competencia directa para la operación.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Muchos importadores pagan ajustes injustos por no saber que tenían derecho a impugnarlos.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cooperación aduanera hace posible la verificación de origen entre países.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lente operativo: cada compromiso del capítulo se traduce en una acción concreta.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Aprovechar el retiro con garantía cuando un tema pendiente frena la carga.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Idealmente un caso propio del courier del estudiante.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 al Módulo 6: por qué un producto entra 'libre' pero enfrenta permisos y requisitos.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1325880"/>
            <a:ext cx="4206240" cy="4206240"/>
          </a:xfrm>
          <a:prstGeom prst="ellipse">
            <a:avLst/>
          </a:prstGeom>
          <a:solidFill>
            <a:srgbClr val="2A7F8E">
              <a:alpha val="10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1874520"/>
            <a:ext cx="3108960" cy="3108960"/>
          </a:xfrm>
          <a:prstGeom prst="ellipse">
            <a:avLst/>
          </a:prstGeom>
          <a:solidFill>
            <a:srgbClr val="2A7F8E">
              <a:alpha val="16000"/>
            </a:srgbClr>
          </a:solidFill>
          <a:ln w="12700">
            <a:solidFill>
              <a:srgbClr val="E0A83B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377440"/>
            <a:ext cx="2103120" cy="2103120"/>
          </a:xfrm>
          <a:prstGeom prst="ellipse">
            <a:avLst/>
          </a:prstGeom>
          <a:solidFill>
            <a:srgbClr val="2A7F8E">
              <a:alpha val="26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0" y="2880360"/>
            <a:ext cx="1097280" cy="109728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MODULAR · COMERCIO EXTERIOR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5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E7E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Administración aduanera y facilitación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9FB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Despacho, envíos expresos y gestión de riesgo  ·  Capítulo 5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4434840"/>
            <a:ext cx="6035040" cy="566928"/>
          </a:xfrm>
          <a:prstGeom prst="roundRect">
            <a:avLst>
              <a:gd name="adj" fmla="val 12903"/>
            </a:avLst>
          </a:prstGeom>
          <a:solidFill>
            <a:srgbClr val="1E3D5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43484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8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el tratado toca tu trabajo diario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República Dominicana · DR-CAFTA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MÓDULO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el beneficio del tratado llegue a la práctica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terminar, el estudiante entenderá los compromisos que el DR-CAFTA impone a las aduanas para que el comercio fluya rápido y predecible, y los derechos del importador frente a una decisión aduanera.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456432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825496"/>
            <a:ext cx="566928" cy="566928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Entender el despacho ágil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2907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compromisos de rapidez, transparencia y gestión de riesgo.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6260" y="2514600"/>
            <a:ext cx="3456432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58868" y="2825496"/>
            <a:ext cx="566928" cy="566928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58868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40580" y="356616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Dominar los envíos expresos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640580" y="4343400"/>
            <a:ext cx="2907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del courier: minimis, documentación anticipada.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83880" y="2514600"/>
            <a:ext cx="3456432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76488" y="2825496"/>
            <a:ext cx="566928" cy="566928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7" name="Text 15"/>
          <p:cNvSpPr/>
          <p:nvPr/>
        </p:nvSpPr>
        <p:spPr>
          <a:xfrm>
            <a:off x="8476488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58200" y="356616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Conocer tus recursos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458200" y="4343400"/>
            <a:ext cx="2907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Resoluciones anticipadas y el derecho de apelación.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ESTE MÓDULO EXISTE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preferencia solo sirve si fluye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446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Capítulos 3 y 4 te dieron el arancel y el origen. Pero de nada sirve una preferencia si la mercancía se queda atascada en aduana.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6446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Capítulo 5 dice cómo deben comportarse las aduanas para que el beneficio se materialice: rapidez, reglas claras y recursos cuando la aduana se equivoca. Además contiene las reglas de envíos expresos que rigen tu negocio.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52360" y="1737360"/>
            <a:ext cx="4160520" cy="3246120"/>
          </a:xfrm>
          <a:prstGeom prst="roundRect">
            <a:avLst>
              <a:gd name="adj" fmla="val 2817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6E829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8096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7818120" y="2651760"/>
            <a:ext cx="3429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Este es tu terreno: courier, despacho, SIGA.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COMPROMISOS CENTRALES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Transparencia y despacho ágil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3794760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5440680" cy="548640"/>
          </a:xfrm>
          <a:prstGeom prst="roundRect">
            <a:avLst>
              <a:gd name="adj" fmla="val 15000"/>
            </a:avLst>
          </a:prstGeom>
          <a:solidFill>
            <a:srgbClr val="2A7F8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Transparencia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68680" y="2560320"/>
            <a:ext cx="128016" cy="12801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44144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la normativa aduanera, incluso en internet.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3273552"/>
            <a:ext cx="128016" cy="12801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15468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Designar puntos de contacto para consultas.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3986784"/>
            <a:ext cx="128016" cy="12801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867912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oportunidad de comentar antes de nuevas reglas.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4700016"/>
            <a:ext cx="128016" cy="12801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581144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con antelación para que el comercio se ajuste.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99632" y="1737360"/>
            <a:ext cx="5440680" cy="3794760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9632" y="1737360"/>
            <a:ext cx="5440680" cy="548640"/>
          </a:xfrm>
          <a:prstGeom prst="roundRect">
            <a:avLst>
              <a:gd name="adj" fmla="val 15000"/>
            </a:avLst>
          </a:prstGeom>
          <a:solidFill>
            <a:srgbClr val="13293D"/>
          </a:solidFill>
          <a:ln/>
        </p:spPr>
      </p:sp>
      <p:sp>
        <p:nvSpPr>
          <p:cNvPr id="17" name="Text 15"/>
          <p:cNvSpPr/>
          <p:nvPr/>
        </p:nvSpPr>
        <p:spPr>
          <a:xfrm>
            <a:off x="6473952" y="17373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Despacho de mercancías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6519672" y="2560320"/>
            <a:ext cx="128016" cy="12801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9" name="Text 17"/>
          <p:cNvSpPr/>
          <p:nvPr/>
        </p:nvSpPr>
        <p:spPr>
          <a:xfrm>
            <a:off x="6793992" y="244144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Despachar en un plazo breve — en lo posible, 48 horas.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19672" y="3273552"/>
            <a:ext cx="128016" cy="12801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1" name="Text 19"/>
          <p:cNvSpPr/>
          <p:nvPr/>
        </p:nvSpPr>
        <p:spPr>
          <a:xfrm>
            <a:off x="6793992" y="315468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el despacho en el punto de llegada.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19672" y="3986784"/>
            <a:ext cx="128016" cy="12801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3" name="Text 21"/>
          <p:cNvSpPr/>
          <p:nvPr/>
        </p:nvSpPr>
        <p:spPr>
          <a:xfrm>
            <a:off x="6793992" y="3867912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Retiro con garantía antes de la determinación final.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19672" y="4700016"/>
            <a:ext cx="128016" cy="128016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5" name="Text 23"/>
          <p:cNvSpPr/>
          <p:nvPr/>
        </p:nvSpPr>
        <p:spPr>
          <a:xfrm>
            <a:off x="6793992" y="4581144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Procedimientos simplificados y presentación anticipada.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MODERNAS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Automatización y gestión de riesgo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lugar de revisar todo, la aduana concentra la inspección en los envíos de alto riesgo y agiliza los de bajo riesgo. Es lo que hace posible el canal verde / rojo.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buen expediente —documentación limpia e historial de cumplimiento— baja el perfil de riesgo del cliente y acelera su despacho.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20840" y="1783080"/>
            <a:ext cx="4892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40880" y="2130552"/>
            <a:ext cx="402336" cy="40233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9476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 verde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635240" y="235000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riesgo → despacho directo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720840" y="3081528"/>
            <a:ext cx="4892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40880" y="3429000"/>
            <a:ext cx="402336" cy="402336"/>
          </a:xfrm>
          <a:prstGeom prst="ellipse">
            <a:avLst/>
          </a:prstGeom>
          <a:solidFill>
            <a:srgbClr val="D9A520"/>
          </a:solidFill>
          <a:ln/>
        </p:spPr>
      </p:sp>
      <p:sp>
        <p:nvSpPr>
          <p:cNvPr id="12" name="Text 10"/>
          <p:cNvSpPr/>
          <p:nvPr/>
        </p:nvSpPr>
        <p:spPr>
          <a:xfrm>
            <a:off x="7635240" y="32461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 amarillo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635240" y="3648456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documental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720840" y="4379976"/>
            <a:ext cx="4892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40880" y="4727448"/>
            <a:ext cx="402336" cy="402336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6" name="Text 14"/>
          <p:cNvSpPr/>
          <p:nvPr/>
        </p:nvSpPr>
        <p:spPr>
          <a:xfrm>
            <a:off x="7635240" y="454456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 rojo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635240" y="4946904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 física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 A TU NEGOCIO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Envíos expresos (courier)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194560" y="2011680"/>
            <a:ext cx="7799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tratado obliga a mantener procedimientos aduaneros acelerados para la entrega rápida, sin renunciar al control.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99516" y="2880360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1E3D57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9556" y="3063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Despacho expedito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9556" y="34472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idealmente en 6 horas tras la documentación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2880360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1E3D57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97396" y="3063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Documentación simplificada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97396" y="34472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electrónica y anticipada, antes del arribo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99516" y="4160520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1E3D57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9556" y="4343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solo manifiesto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9556" y="47274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todos los envíos de la empresa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77356" y="4160520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1E3D57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97396" y="4343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Umbral de minimis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97396" y="47274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bajo el cual no se cobran aranceles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EnvíosRD y todo el negocio courier viven de estas reglas. El monto exacto del minimis lo fija RD — verifícalo.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CERTEZA Y DEFENSA DEL OPERADOR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Derechos frente a la aduana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128016" cy="1783080"/>
          </a:xfrm>
          <a:prstGeom prst="roundRect">
            <a:avLst>
              <a:gd name="adj" fmla="val 14286"/>
            </a:avLst>
          </a:prstGeom>
          <a:solidFill>
            <a:srgbClr val="2A7F8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11096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Resoluciones anticipadas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Pronunciamiento vinculante antes de importar sobre clasificación o valoración. Certeza previa.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99632" y="169164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99632" y="1691640"/>
            <a:ext cx="128016" cy="1783080"/>
          </a:xfrm>
          <a:prstGeom prst="roundRect">
            <a:avLst>
              <a:gd name="adj" fmla="val 14286"/>
            </a:avLst>
          </a:prstGeom>
          <a:solidFill>
            <a:srgbClr val="E0A83B"/>
          </a:solidFill>
          <a:ln/>
        </p:spPr>
      </p:sp>
      <p:sp>
        <p:nvSpPr>
          <p:cNvPr id="10" name="Text 8"/>
          <p:cNvSpPr/>
          <p:nvPr/>
        </p:nvSpPr>
        <p:spPr>
          <a:xfrm>
            <a:off x="6565392" y="1911096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Revisión y apelación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565392" y="24688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determinación puede impugnarse: instancia administrativa y luego revisión judicial o independiente.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75888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75888"/>
            <a:ext cx="128016" cy="1783080"/>
          </a:xfrm>
          <a:prstGeom prst="roundRect">
            <a:avLst>
              <a:gd name="adj" fmla="val 14286"/>
            </a:avLst>
          </a:prstGeom>
          <a:solidFill>
            <a:srgbClr val="2A7F8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895344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Sanciones proporcionales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14400" y="4453128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sanciones aduaneras deben aplicarse de forma proporcional y no arbitraria.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99632" y="3675888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9632" y="3675888"/>
            <a:ext cx="128016" cy="1783080"/>
          </a:xfrm>
          <a:prstGeom prst="roundRect">
            <a:avLst>
              <a:gd name="adj" fmla="val 14286"/>
            </a:avLst>
          </a:prstGeom>
          <a:solidFill>
            <a:srgbClr val="E0A83B"/>
          </a:solidFill>
          <a:ln/>
        </p:spPr>
      </p:sp>
      <p:sp>
        <p:nvSpPr>
          <p:cNvPr id="18" name="Text 16"/>
          <p:cNvSpPr/>
          <p:nvPr/>
        </p:nvSpPr>
        <p:spPr>
          <a:xfrm>
            <a:off x="6565392" y="3895344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Confidencialidad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565392" y="4453128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comercial entregada a la aduana debe protegerse.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COOPERACIÓN ADUANERA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puente entre las aduanas del bloque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aduanas de las Partes cooperan e intercambian información, incluyendo asistencia para verificar origen y combatir el fraude aduanero. También hay creación de capacidades (asistencia técnica) para modernizar las aduanas.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cooperación es el canal por el que, en una verificación de origen (Módulo 4), la aduana de RD puede pedir información a la aduana de otro país miembro.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49440" y="2286000"/>
            <a:ext cx="2148840" cy="1280160"/>
          </a:xfrm>
          <a:prstGeom prst="roundRect">
            <a:avLst>
              <a:gd name="adj" fmla="val 7143"/>
            </a:avLst>
          </a:prstGeom>
          <a:solidFill>
            <a:srgbClr val="13293D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228600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Aduana 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098280" y="2286000"/>
            <a:ext cx="822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921240" y="2286000"/>
            <a:ext cx="1691640" cy="1280160"/>
          </a:xfrm>
          <a:prstGeom prst="roundRect">
            <a:avLst>
              <a:gd name="adj" fmla="val 7143"/>
            </a:avLst>
          </a:prstGeom>
          <a:solidFill>
            <a:srgbClr val="2A7F8E"/>
          </a:solidFill>
          <a:ln/>
        </p:spPr>
      </p:sp>
      <p:sp>
        <p:nvSpPr>
          <p:cNvPr id="10" name="Text 8"/>
          <p:cNvSpPr/>
          <p:nvPr/>
        </p:nvSpPr>
        <p:spPr>
          <a:xfrm>
            <a:off x="9921240" y="228600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Aduana de otra Parte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949440" y="37947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Intercambio de información · verificación de origen · lucha contra el fraude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Leer el capítulo con lente operativo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564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75104"/>
            <a:ext cx="512064" cy="51206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751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2633472"/>
            <a:ext cx="2944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 la vía de ingreso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3273552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general vs. envío expreso/courier.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66260" y="1737360"/>
            <a:ext cx="34564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22292" y="1975104"/>
            <a:ext cx="512064" cy="512064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11" name="Text 9"/>
          <p:cNvSpPr/>
          <p:nvPr/>
        </p:nvSpPr>
        <p:spPr>
          <a:xfrm>
            <a:off x="4622292" y="19751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22292" y="2633472"/>
            <a:ext cx="2944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 el umbral de minimis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22292" y="3273552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 courier — ¿hay o no aranceles?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83880" y="1737360"/>
            <a:ext cx="34564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39912" y="1975104"/>
            <a:ext cx="512064" cy="51206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6" name="Text 14"/>
          <p:cNvSpPr/>
          <p:nvPr/>
        </p:nvSpPr>
        <p:spPr>
          <a:xfrm>
            <a:off x="8439912" y="19751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39912" y="2633472"/>
            <a:ext cx="2944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 documentación anticipada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39912" y="3273552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electrónica → aprovecha el despacho ágil.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4564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261104"/>
            <a:ext cx="512064" cy="512064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2611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04672" y="4919472"/>
            <a:ext cx="2944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Evalúa el perfil de riesgo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04672" y="5559552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cliente/embarque → anticipa canal verde o rojo.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66260" y="4023360"/>
            <a:ext cx="34564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22292" y="4261104"/>
            <a:ext cx="512064" cy="51206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6" name="Text 24"/>
          <p:cNvSpPr/>
          <p:nvPr/>
        </p:nvSpPr>
        <p:spPr>
          <a:xfrm>
            <a:off x="4622292" y="42611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622292" y="4919472"/>
            <a:ext cx="2944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Considera una resolución anticipada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622292" y="5559552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duda de clasificación o valor.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83880" y="4023360"/>
            <a:ext cx="34564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39912" y="4261104"/>
            <a:ext cx="512064" cy="512064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31" name="Text 29"/>
          <p:cNvSpPr/>
          <p:nvPr/>
        </p:nvSpPr>
        <p:spPr>
          <a:xfrm>
            <a:off x="8439912" y="42611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439912" y="4919472"/>
            <a:ext cx="2944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la determinación es adversa, apela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439912" y="5559552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 administrativa y luego judicial, en plazo.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TRAMPAS COMUNES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que frenan la carga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215798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0136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presentar información anticipada y perder el despacho rápido.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99632" y="169164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37376" y="215798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0" name="Text 8"/>
          <p:cNvSpPr/>
          <p:nvPr/>
        </p:nvSpPr>
        <p:spPr>
          <a:xfrm>
            <a:off x="6437376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68312" y="180136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Desconocer el umbral de minimis vigente → cobrar o pagar de más.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371246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712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35584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 una reclasificación o ajuste de valor sin apelar.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99632" y="324612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37376" y="371246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8" name="Text 16"/>
          <p:cNvSpPr/>
          <p:nvPr/>
        </p:nvSpPr>
        <p:spPr>
          <a:xfrm>
            <a:off x="6437376" y="3712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68312" y="335584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las resoluciones anticipadas en operaciones dudosas de alto monto.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" y="526694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52669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491032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facilitación con ausencia de control: la aduana sigue inspeccionando por riesgo.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99632" y="480060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13293D"/>
          </a:solidFill>
          <a:ln/>
        </p:spPr>
      </p:sp>
      <p:sp>
        <p:nvSpPr>
          <p:cNvPr id="25" name="Text 23"/>
          <p:cNvSpPr/>
          <p:nvPr/>
        </p:nvSpPr>
        <p:spPr>
          <a:xfrm>
            <a:off x="6473952" y="480060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Recuerda: 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7E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 determinación aduanera se puede apelar — es un servicio en sí mismo.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A LA OBRA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 guiada y entregable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5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 guiada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256032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40487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 completo (más corto y operativo que el 4).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333756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18211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Transparencia, despacho, automatización y gestión de riesgo.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411480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95935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Subraya el artículo de envíos de entrega rápida — tu terreno.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489204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73659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Contrasta con RD: cómo el SIGA implementa estos compromisos.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45352" y="164592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6E829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65392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65392" y="22128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Radiografía de un despacho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565392" y="28803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un caso real de importación y documenta cómo aplica el Capítulo 5: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11112" y="3666744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353872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Vía de ingreso y si es envío expreso.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11112" y="4169664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404164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umbral de minimis vigente.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11112" y="4672584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454456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información anticipada se presenta.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611112" y="5175504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504748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canal de riesgo tocó y, si hubo ajuste, qué recurso procede.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65392" y="5532120"/>
            <a:ext cx="4892040" cy="274320"/>
          </a:xfrm>
          <a:prstGeom prst="roundRect">
            <a:avLst>
              <a:gd name="adj" fmla="val 20000"/>
            </a:avLst>
          </a:prstGeom>
          <a:solidFill>
            <a:srgbClr val="1E3D57"/>
          </a:solidFill>
          <a:ln/>
        </p:spPr>
      </p:sp>
      <p:sp>
        <p:nvSpPr>
          <p:cNvPr id="27" name="Text 25"/>
          <p:cNvSpPr/>
          <p:nvPr/>
        </p:nvSpPr>
        <p:spPr>
          <a:xfrm>
            <a:off x="6565392" y="54864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el tratado con tu día a día.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1325880"/>
            <a:ext cx="4206240" cy="4206240"/>
          </a:xfrm>
          <a:prstGeom prst="ellipse">
            <a:avLst/>
          </a:prstGeom>
          <a:solidFill>
            <a:srgbClr val="2A7F8E">
              <a:alpha val="10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74520"/>
            <a:ext cx="3108960" cy="3108960"/>
          </a:xfrm>
          <a:prstGeom prst="ellipse">
            <a:avLst/>
          </a:prstGeom>
          <a:solidFill>
            <a:srgbClr val="2A7F8E">
              <a:alpha val="16000"/>
            </a:srgbClr>
          </a:solidFill>
          <a:ln w="12700">
            <a:solidFill>
              <a:srgbClr val="E0A83B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2377440"/>
            <a:ext cx="2103120" cy="2103120"/>
          </a:xfrm>
          <a:prstGeom prst="ellipse">
            <a:avLst/>
          </a:prstGeom>
          <a:solidFill>
            <a:srgbClr val="2A7F8E">
              <a:alpha val="26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880360"/>
            <a:ext cx="1097280" cy="109728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0" y="11887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MÓDULO 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1527048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 I, completo.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617720" y="2441448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230428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tratado exige despacho ágil, transparente y por riesgo.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17720" y="2990088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85292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envíos expresos tienen reglas propias: minimis y anticipación.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3538728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340156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determinación aduanera se puede apelar.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17720" y="4087368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395020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resolución anticipada da certeza antes de importar.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0" y="4709160"/>
            <a:ext cx="7040880" cy="566928"/>
          </a:xfrm>
          <a:prstGeom prst="roundRect">
            <a:avLst>
              <a:gd name="adj" fmla="val 12903"/>
            </a:avLst>
          </a:prstGeom>
          <a:solidFill>
            <a:srgbClr val="1E3D5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470916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5 cierras el Bloque I: el 80% del trabajo aduanal diario.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5440680"/>
            <a:ext cx="7040880" cy="731520"/>
          </a:xfrm>
          <a:prstGeom prst="roundRect">
            <a:avLst>
              <a:gd name="adj" fmla="val 11250"/>
            </a:avLst>
          </a:prstGeom>
          <a:solidFill>
            <a:srgbClr val="E0A83B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544068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  </a:t>
            </a:r>
            <a:pPr algn="l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6 · Barreras no arancelarias (MSF y OTC)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Curso DR-CAFTA</dc:creator>
  <cp:lastModifiedBy>Curso DR-CAFTA</cp:lastModifiedBy>
  <cp:revision>1</cp:revision>
  <dcterms:created xsi:type="dcterms:W3CDTF">2026-08-14T02:53:16Z</dcterms:created>
  <dcterms:modified xsi:type="dcterms:W3CDTF">2026-08-14T02:53:16Z</dcterms:modified>
</cp:coreProperties>
</file>