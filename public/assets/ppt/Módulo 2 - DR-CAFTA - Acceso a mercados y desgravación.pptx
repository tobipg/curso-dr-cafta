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2: el Capítulo 3. La gente cree que el DR-CAFTA es solo 'quitar aranceles'; en realidad es cronogramas por producto y país. Aquí el Anexo 3.3 se vuelve herramienta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competencia final: decirle a un cliente con precisión el arancel preferencial vigente, no un 'entra libre'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Anexo 3.3 es la herramienta diaria del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en el Art. III del GATT. Trato nacional = garantía de que la preferencia no se vacía con trabas internas.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Art. 3.3 remite al Anexo 3.3: el artículo no da el número, el anexo sí. Refuerza la regla del Módulo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el tratado ya lleva años, muchos productos están en 0%, pero los de cronograma largo (agrícolas sensibles) siguen desgravándose o mantienen cuotas.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Prometer 0% sin verificar si la cuota está disponible es un error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salvaguardia agrícola conecta con la defensa comercial del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ejercicio central del módulo, y el flujo que el sistema de IA automatizaría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definición de 'arancel aduanero' del Módulo 1: hay cargos en frontera que el tratado no cubre.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Anexo 3.3 es la herramienta central del capítulo; la ficha prueba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3: ¿el producto califica como originario? El músculo técnico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 mercados y desgravación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Trato nacional, aranceles, canastas y contingentes  ·  Capítulo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262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Anexo 3.3 deja de ser teoría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texto al número: el arancel de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podrá tomar un producto, buscarlo en la lista de desgravación de un país y determinar el arancel preferencial que le aplica hoy bajo el DR-CAFTA.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el trato nacional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apertura arancelaria no se vacía por dentro.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las canastas de desgravación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en qué punto de su cronograma está un producto.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Manejar contingentes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un producto entra dentro o fuera de cuota.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fino que “quitar aranceles”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capítulo que la gente cree que es todo el tratado. En realidad es más fino: los aranceles no cayeron a cero de golpe. Se eliminaron según cronogramas distintos por producto y por país.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46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productos sensibles siguen con arancel, con cuota o excluidos. Saber leerlo es la diferencia entre prometer “entra libre” y decir con precisión el arancel de este año.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6060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asumas 0%. Verifícalo en la lista.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BASE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Trato Nacional (Art. 3.2)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una mercancía importada entró y pagó lo que debía, el país no puede tratarla peor que a un producto nacional equivalente: ni impuestos internos más altos, ni regulaciones de venta más gravosas.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un país “abra la puerta” con el arancel y luego mate al producto importado por dentro. Aplica DESPUÉS del ingreso; en la frontera rigen las reglas propias del tratado.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12280" y="1965960"/>
            <a:ext cx="48006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78040" y="23774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2A7F8E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importado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23774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509760" y="23774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3293D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78040" y="3611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trato en impuestos y regulaciones internas.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CAPÍTULO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de aranceles (Art. 3.3)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artículo es corto; toda la sustancia está en el Anexo 3.3 y en las Listas de cada país. Dos conceptos que fijar: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5440680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partida: la “tasa base”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arrancó con un arancel base (el que existía antes del tratado). Desde ahí se descuenta hasta llegar a cero.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3317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2331720"/>
            <a:ext cx="5440680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788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gradual y desigual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65392" y="37490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productos llegaron a 0% al mismo tiempo. Se agruparon en categorías de desgravación — las “canastas”.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CANASTAS DE DESGRAVACIÓN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producto tiene su velocidad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2761488"/>
            <a:ext cx="9692640" cy="91440"/>
          </a:xfrm>
          <a:prstGeom prst="roundRect">
            <a:avLst>
              <a:gd name="adj" fmla="val 50000"/>
            </a:avLst>
          </a:prstGeom>
          <a:solidFill>
            <a:srgbClr val="CBD6DD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2432304"/>
            <a:ext cx="749808" cy="749808"/>
          </a:xfrm>
          <a:prstGeom prst="ellipse">
            <a:avLst/>
          </a:prstGeom>
          <a:solidFill>
            <a:srgbClr val="E0A8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05256" y="24323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Inmediato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" y="3401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al entrar en vigor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36136" y="2432304"/>
            <a:ext cx="749808" cy="749808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36136" y="24323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594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años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22320" y="3401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Desgravación lineal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7016" y="2432304"/>
            <a:ext cx="749808" cy="749808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7016" y="24323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9036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años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3200" y="3401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Desgravación lineal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97896" y="2432304"/>
            <a:ext cx="749808" cy="749808"/>
          </a:xfrm>
          <a:prstGeom prst="ellipse">
            <a:avLst/>
          </a:prstGeom>
          <a:solidFill>
            <a:srgbClr val="13293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97896" y="24323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2124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años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84080" y="3401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sensibles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BF1DC"/>
          </a:solidFill>
          <a:ln w="15240">
            <a:solidFill>
              <a:srgbClr val="E0A8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3659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Categorías especiales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4709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lineal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de gracia y luego caídas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4709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Contingentes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con arancel preferencial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81160" y="4709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Exclusiones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desgravación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CONTINGENTES ARANCELARIOS (TRQ)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letra chica de los productos sensibles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mecanismo de doble nivel: una cantidad entra con arancel preferencial; lo que la exceda paga un arancel mayor.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0320">
            <a:solidFill>
              <a:srgbClr val="2A7F8E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CUOTA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X toneladas/año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preferencial — a menudo 0%.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233172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7E9E4"/>
          </a:solidFill>
          <a:ln w="20320">
            <a:solidFill>
              <a:srgbClr val="C0492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CUOTA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exceda 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19672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el arancel mayor (fuera de contingente).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43484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práctica:  </a:t>
            </a:r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puede tener un trato buenísimo… hasta que se agota la cuota del año. En RD, los contingentes se administran conforme al Reglamento 505-10 (Módulo 10).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DISPOSICIONES DEL CAPÍTULO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también debes conocer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6537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Prohibición de nuevos aranceles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crear ni subir aranceles sobre mercancías originarias.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626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0580" y="186537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Admisión temporal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0580" y="26060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Muestras, equipo profesional o bienes de exhibición entran temporalmente libres.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86537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Reimportación tras reparación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6060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bienes que salen a repararse y vuelven.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5993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 / exención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o exención de aranceles a insumos, con límites acordados.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626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0580" y="405993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 cuantitativas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0580" y="48006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eliminan las cuotas de importación/exportación, salvo excepciones.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4059936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Salvaguardia agrícola especial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480060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subir el arancel si las importaciones de ciertos agrícolas superan umbrales.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Determinar el arancel preferencial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32788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32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27632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producto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obtén su código HS — base de todo.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72284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2377440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72284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es originario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origen (Cap. 4) no hay preferencia.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022092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02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916936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Lista del país importador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 el Anexo 3.3.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561588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3666744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561588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el producto por su HS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lee su categoría de desgravación.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4311396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3113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06240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arancel de este año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según la categoría y los años transcurridos.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850892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956048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850892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si hay contingente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¿dentro o fuera de la cuota?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495544"/>
            <a:ext cx="11091672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5600700"/>
            <a:ext cx="365760" cy="3657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5600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5495544"/>
            <a:ext cx="10241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 con el arancel nacional  </a:t>
            </a:r>
            <a:pPr indent="0" marL="0">
              <a:buNone/>
            </a:pPr>
            <a:r>
              <a:rPr lang="en-US" sz="13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confirma cómo se aplica en RD (DGA).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que cuestan plata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0% automático — muchos sí, pero los de cronograma largo o con cuota, 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Art. 3.3 e ignorar el Anexo 3.3 y la Lista.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Lista del país equivocado — cada país tiene la suya.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el requisito de origen: la preferencia no aplica solo por venir de un miembro.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0% sin verificar si el contingente está disponible.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clasifica, confirma origen, y luego busca el arancel.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3: trato nacional (3.2), desgravación (3.3) y disposiciones.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3.3 y la Lista de RD — este es el foco.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el formato: HS, descripción, tasa base y categoría.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un producto categoría A y uno con contingente.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arancel preferencial de 3 productos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producto, documenta: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73075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935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HS y categoría en la Lista de RD.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1112" y="427939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142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preferencial vigente este año.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1112" y="482803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6908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 contingente, y el arancel NMF para comparar.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65392" y="5257800"/>
            <a:ext cx="4892040" cy="457200"/>
          </a:xfrm>
          <a:prstGeom prst="roundRect">
            <a:avLst>
              <a:gd name="adj" fmla="val 16000"/>
            </a:avLst>
          </a:prstGeom>
          <a:solidFill>
            <a:srgbClr val="1E3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5257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que ya sabes usar el Anexo 3.3.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texto al arancel de hoy.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4617720" y="25786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441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nacional: la preferencia no se vacía por dentro.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314553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083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desgravación es gradual y desigual — canastas por producto.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17720" y="371246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753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contingentes cambian el costo al agotarse la cuota.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939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142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asumas 0%: verifícalo en la Lista del Anexo 3.3.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3 · Reglas de origen (el núcleo)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2026-08-14T02:37:12Z</dcterms:created>
  <dcterms:modified xsi:type="dcterms:W3CDTF">2026-08-14T02:37:12Z</dcterms:modified>
</cp:coreProperties>
</file>